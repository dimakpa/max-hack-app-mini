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fd62e746674557" /><Relationship Type="http://schemas.openxmlformats.org/officeDocument/2006/relationships/extended-properties" Target="/docProps/app.xml" Id="Re44a803bc50d4c42" /><Relationship Type="http://schemas.openxmlformats.org/officeDocument/2006/relationships/officeDocument" Target="/ppt/presentation.xml" Id="Re8a43ed567cb4d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f0d3eb0bcd4bf9"/>
  </p:sldMasterIdLst>
  <p:notesMasterIdLst>
    <p:notesMasterId xmlns:r="http://schemas.openxmlformats.org/officeDocument/2006/relationships" r:id="R9052ea0dbad344b2"/>
  </p:notesMasterIdLst>
  <p:sldIdLst>
    <p:sldId xmlns:r="http://schemas.openxmlformats.org/officeDocument/2006/relationships" id="256" r:id="Ra8d1daff937840d4"/>
    <p:sldId xmlns:r="http://schemas.openxmlformats.org/officeDocument/2006/relationships" id="257" r:id="R2079d9a3a07d46d6"/>
    <p:sldId xmlns:r="http://schemas.openxmlformats.org/officeDocument/2006/relationships" id="258" r:id="R6342cba7a98d4f50"/>
    <p:sldId xmlns:r="http://schemas.openxmlformats.org/officeDocument/2006/relationships" id="259" r:id="R8cf76aa5672740c0"/>
    <p:sldId xmlns:r="http://schemas.openxmlformats.org/officeDocument/2006/relationships" id="260" r:id="Rc8d8d4beeb054705"/>
    <p:sldId xmlns:r="http://schemas.openxmlformats.org/officeDocument/2006/relationships" id="261" r:id="R3f625cea9e0b49c1"/>
    <p:sldId xmlns:r="http://schemas.openxmlformats.org/officeDocument/2006/relationships" id="262" r:id="Rf09a46015bd640de"/>
    <p:sldId xmlns:r="http://schemas.openxmlformats.org/officeDocument/2006/relationships" id="263" r:id="Rb7d8d2885bf14b89"/>
    <p:sldId xmlns:r="http://schemas.openxmlformats.org/officeDocument/2006/relationships" id="264" r:id="Rcbc8068628e743cc"/>
    <p:sldId xmlns:r="http://schemas.openxmlformats.org/officeDocument/2006/relationships" id="265" r:id="R901784784d104b46"/>
    <p:sldId xmlns:r="http://schemas.openxmlformats.org/officeDocument/2006/relationships" id="266" r:id="Rdbae05912da94326"/>
    <p:sldId xmlns:r="http://schemas.openxmlformats.org/officeDocument/2006/relationships" id="267" r:id="R9a11c8934c6b49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7f76a326cd490c" /><Relationship Type="http://schemas.openxmlformats.org/officeDocument/2006/relationships/slideMaster" Target="/ppt/slideMasters/slideMaster1.xml" Id="R18f0d3eb0bcd4bf9" /><Relationship Type="http://schemas.openxmlformats.org/officeDocument/2006/relationships/notesMaster" Target="/ppt/notesMasters/notesMaster1.xml" Id="R9052ea0dbad344b2" /><Relationship Type="http://schemas.openxmlformats.org/officeDocument/2006/relationships/presProps" Target="/ppt/presProps.xml" Id="Rd25eb064106b4e53" /><Relationship Type="http://schemas.openxmlformats.org/officeDocument/2006/relationships/tableStyles" Target="/ppt/tableStyles.xml" Id="R506d68cd106d49b9" /><Relationship Type="http://schemas.openxmlformats.org/officeDocument/2006/relationships/slide" Target="/ppt/slides/slide1.xml" Id="Ra8d1daff937840d4" /><Relationship Type="http://schemas.openxmlformats.org/officeDocument/2006/relationships/slide" Target="/ppt/slides/slide2.xml" Id="R2079d9a3a07d46d6" /><Relationship Type="http://schemas.openxmlformats.org/officeDocument/2006/relationships/slide" Target="/ppt/slides/slide3.xml" Id="R6342cba7a98d4f50" /><Relationship Type="http://schemas.openxmlformats.org/officeDocument/2006/relationships/slide" Target="/ppt/slides/slide4.xml" Id="R8cf76aa5672740c0" /><Relationship Type="http://schemas.openxmlformats.org/officeDocument/2006/relationships/slide" Target="/ppt/slides/slide5.xml" Id="Rc8d8d4beeb054705" /><Relationship Type="http://schemas.openxmlformats.org/officeDocument/2006/relationships/slide" Target="/ppt/slides/slide6.xml" Id="R3f625cea9e0b49c1" /><Relationship Type="http://schemas.openxmlformats.org/officeDocument/2006/relationships/slide" Target="/ppt/slides/slide7.xml" Id="Rf09a46015bd640de" /><Relationship Type="http://schemas.openxmlformats.org/officeDocument/2006/relationships/slide" Target="/ppt/slides/slide8.xml" Id="Rb7d8d2885bf14b89" /><Relationship Type="http://schemas.openxmlformats.org/officeDocument/2006/relationships/slide" Target="/ppt/slides/slide9.xml" Id="Rcbc8068628e743cc" /><Relationship Type="http://schemas.openxmlformats.org/officeDocument/2006/relationships/slide" Target="/ppt/slides/slide10.xml" Id="R901784784d104b46" /><Relationship Type="http://schemas.openxmlformats.org/officeDocument/2006/relationships/slide" Target="/ppt/slides/slide11.xml" Id="Rdbae05912da94326" /><Relationship Type="http://schemas.openxmlformats.org/officeDocument/2006/relationships/slide" Target="/ppt/slides/slide12.xml" Id="R9a11c8934c6b49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03454723e249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994d5e3f2540b4" /><Relationship Type="http://schemas.openxmlformats.org/officeDocument/2006/relationships/notesMaster" Target="/ppt/notesMasters/notesMaster1.xml" Id="R7e068e671a054d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be960365e643eb" /><Relationship Type="http://schemas.openxmlformats.org/officeDocument/2006/relationships/notesMaster" Target="/ppt/notesMasters/notesMaster1.xml" Id="R349dbe9becb54c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b74a7e6f104464" /><Relationship Type="http://schemas.openxmlformats.org/officeDocument/2006/relationships/notesMaster" Target="/ppt/notesMasters/notesMaster1.xml" Id="R0f757af61f7944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9b59ac36f34e06" /><Relationship Type="http://schemas.openxmlformats.org/officeDocument/2006/relationships/notesMaster" Target="/ppt/notesMasters/notesMaster1.xml" Id="R9607250ccb6e47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29318d874548f7" /><Relationship Type="http://schemas.openxmlformats.org/officeDocument/2006/relationships/notesMaster" Target="/ppt/notesMasters/notesMaster1.xml" Id="R73be821c12b64d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29391ac6d44ca0" /><Relationship Type="http://schemas.openxmlformats.org/officeDocument/2006/relationships/notesMaster" Target="/ppt/notesMasters/notesMaster1.xml" Id="R24d6e5e5bd7447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a87b9ae125442a" /><Relationship Type="http://schemas.openxmlformats.org/officeDocument/2006/relationships/notesMaster" Target="/ppt/notesMasters/notesMaster1.xml" Id="R0239ba9530554a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0619c342634f88" /><Relationship Type="http://schemas.openxmlformats.org/officeDocument/2006/relationships/notesMaster" Target="/ppt/notesMasters/notesMaster1.xml" Id="R5998f9c7fef24d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15140389144286" /><Relationship Type="http://schemas.openxmlformats.org/officeDocument/2006/relationships/notesMaster" Target="/ppt/notesMasters/notesMaster1.xml" Id="Rfff7c090b8f845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eb229de17f4c76" /><Relationship Type="http://schemas.openxmlformats.org/officeDocument/2006/relationships/notesMaster" Target="/ppt/notesMasters/notesMaster1.xml" Id="Rbb3273ed6c5b44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71236a1e1945c1" /><Relationship Type="http://schemas.openxmlformats.org/officeDocument/2006/relationships/notesMaster" Target="/ppt/notesMasters/notesMaster1.xml" Id="Ra3c2edbd7f0345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33446bf0c040de" /><Relationship Type="http://schemas.openxmlformats.org/officeDocument/2006/relationships/notesMaster" Target="/ppt/notesMasters/notesMaster1.xml" Id="R4b8500c513794c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Служебный слайд не рассказываем подробно. Указан проверяемый commit с исходниками, документацией и API-спецификациями.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ТехЗаказ решает одну конкретную задачу: быстро найти технику с экипажем для работ в Чувашской Республике.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говорим, что рынок полностью не цифровизирован. Показываем конкретную точку: человеку нужно сопоставить много параметров и получить результат быстрее.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Основной сценарий намеренно узкий. Он заканчивается подтверждаемой заявкой и отслеживанием статуса, а не пытается автоматизировать весь рынок аренды.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Показываем конкретный пример: «Нужен самосвал КамАЗ в Новочебоксарске завтра к 8:00 на смену, вывезти грунт с участка».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сильное место продукта: мы не прячем заявку за ИИ. Помощник уменьшает ввод, пользователь подтверждает поля, диспетчер подтверждает доступность.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Заявка не создаёт оплату и не обещает доступность. Она поступает поставщику, который меняет статус. Это реалистичная граница MVP.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Собственный API здесь нужен для логики заявок и состояний. Он не заявляется как самоцель и будет описан в OpenAPI после деплоя.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Особенно подчеркнуть, что настоящие поставщики и рейтинги появятся только после договоренностей о пилоте и правил верификации.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показываем выдуманные деньги или проценты. Показываем, как именно будет проверяться эффект после запуска.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Сначала фиксируем ценность в одном регионе, затем расширяем каталог только с проверенными поставщиками и измеренными результатами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Финальное резюме: основной пакет готов. На владельце остаётся финальная приёмка в MAX и подстановка username бота и hash последнего commit.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4577c889444e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62fbfa89ad4d9b" /><Relationship Type="http://schemas.openxmlformats.org/officeDocument/2006/relationships/slideLayout" Target="/ppt/slideLayouts/slideLayout1.xml" Id="R41019331bfa640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019331bfa640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04527658746a3" /><Relationship Type="http://schemas.openxmlformats.org/officeDocument/2006/relationships/notesSlide" Target="/ppt/notesSlides/notesSlide1.xml" Id="Reaf636019ab44c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a24ba165c4e08" /><Relationship Type="http://schemas.openxmlformats.org/officeDocument/2006/relationships/image" Target="/ppt/media/image.png" Id="Ra6dd7379913b47c2" /><Relationship Type="http://schemas.openxmlformats.org/officeDocument/2006/relationships/notesSlide" Target="/ppt/notesSlides/notesSlide2.xml" Id="R8f53b619316c48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99b8fb9854063" /><Relationship Type="http://schemas.openxmlformats.org/officeDocument/2006/relationships/notesSlide" Target="/ppt/notesSlides/notesSlide3.xml" Id="R92e54433b83343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211dac5c94a46" /><Relationship Type="http://schemas.openxmlformats.org/officeDocument/2006/relationships/notesSlide" Target="/ppt/notesSlides/notesSlide4.xml" Id="Rbbc4b71459c043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dda7269fe4dd4" /><Relationship Type="http://schemas.openxmlformats.org/officeDocument/2006/relationships/image" Target="/ppt/media/image2.png" Id="Rbcf63694c9d84f12" /><Relationship Type="http://schemas.openxmlformats.org/officeDocument/2006/relationships/image" Target="/ppt/media/image3.png" Id="R4d3ad47d56444c54" /><Relationship Type="http://schemas.openxmlformats.org/officeDocument/2006/relationships/image" Target="/ppt/media/image4.png" Id="R1bdef321b30346a2" /><Relationship Type="http://schemas.openxmlformats.org/officeDocument/2006/relationships/notesSlide" Target="/ppt/notesSlides/notesSlide5.xml" Id="R3de6253188c04c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51e4e75b64938" /><Relationship Type="http://schemas.openxmlformats.org/officeDocument/2006/relationships/image" Target="/ppt/media/image5.png" Id="Refc5340943e34da8" /><Relationship Type="http://schemas.openxmlformats.org/officeDocument/2006/relationships/notesSlide" Target="/ppt/notesSlides/notesSlide6.xml" Id="Ra815243b6ebb44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838ef23424176" /><Relationship Type="http://schemas.openxmlformats.org/officeDocument/2006/relationships/image" Target="/ppt/media/image6.png" Id="R0bff557a50624d85" /><Relationship Type="http://schemas.openxmlformats.org/officeDocument/2006/relationships/notesSlide" Target="/ppt/notesSlides/notesSlide7.xml" Id="R37843ddbc2784e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736ba47df47bb" /><Relationship Type="http://schemas.openxmlformats.org/officeDocument/2006/relationships/notesSlide" Target="/ppt/notesSlides/notesSlide8.xml" Id="Reae2c8f9c12944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466eb8c2a4e9b" /><Relationship Type="http://schemas.openxmlformats.org/officeDocument/2006/relationships/notesSlide" Target="/ppt/notesSlides/notesSlide9.xml" Id="R62f3a0a22a4f4e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568d1943340bd" /><Relationship Type="http://schemas.openxmlformats.org/officeDocument/2006/relationships/notesSlide" Target="/ppt/notesSlides/notesSlide10.xml" Id="R3185cca4bd814f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81517635b4960" /><Relationship Type="http://schemas.openxmlformats.org/officeDocument/2006/relationships/notesSlide" Target="/ppt/notesSlides/notesSlide11.xml" Id="R092c7f7fc9254a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4d77c75cc4a48" /><Relationship Type="http://schemas.openxmlformats.org/officeDocument/2006/relationships/notesSlide" Target="/ppt/notesSlides/notesSlide12.xml" Id="R9ab80742a72d46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452021-3B3B-4D72-926C-47BB0D44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009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796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2E652-7CA2-4C7F-953B-F25C4D8E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"/>
            <a:ext cx="281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СЛУЖЕБНЫЙ СЛАЙД ДЛЯ ПРОВЕРКИ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834B6-BA68-4E74-A7FD-D8E8DC88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ТехЗаказ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AEBAF-6DB5-479B-AA58-03973158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38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MVP подбора спецтехники с экипажем в MAX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D75B5-F9CA-49F1-AEA9-93B0A06C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3F6F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EFDEE-7925-4582-A9CD-645B620B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Ссылка на бот 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8B813-5EB8-4F7F-AEF4-645E1034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@t52_hakaton_max_bot</a:t>
            </a:r>
          </a:p>
          <a:p xmlns:a="http://schemas.openxmlformats.org/drawingml/2006/main">
            <a:pPr algn="l">
              <a:defRPr sz="12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https://web.max.ru/51922339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AA088-3E2B-4740-9A0F-48F75C1A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Mini app /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01441-162E-4E19-9965-1D4D2BCF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https://max-ai.5.63.152.157.sslip.io/</a:t>
            </a:r>
          </a:p>
          <a:p xmlns:a="http://schemas.openxmlformats.org/drawingml/2006/main">
            <a:pPr algn="l">
              <a:defRPr sz="112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API: тот же origin /api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6665A-0298-4504-8558-C515D3DA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146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Репозиторий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9D0E4-0087-49AC-87D8-B4B9597D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436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github.com/dimakpa/Max-Hack-App-mini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EB09FB-D476-480F-A71A-B45A09C6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95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Проверяемый commit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D1764-B059-4829-9953-57231922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235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45bff0da27c32f342cc0b7bfe4cc983e2fdf73c7</a:t>
            </a:r>
          </a:p>
          <a:p xmlns:a="http://schemas.openxmlformats.org/drawingml/2006/main">
            <a:pPr algn="l">
              <a:defRPr sz="97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Пакет исходников и документации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E450CB-4D63-4688-B967-F3D32969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Порядок проверки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EA8A67-1DEE-4414-B315-D9029D48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Бот -&gt; mini app -&gt; текст заявки -&gt; проверка полей -&gt; подбор -&gt; выбор -&gt; заявка -&gt; подтверждение диспетчером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531DB0-C2B2-41B5-9865-A254B70C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A9E18C-F36D-4BED-8859-5F49FB54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Секреты не включены: для проверки используются MAX-доступ и окружение сервера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9ED69C-B01E-4865-A584-0A387D24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478546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010212-8576-44CE-8DB2-61813CF4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BD423-3887-4674-BA42-BC5EAB4E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" cy="495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827A1-F346-476B-A8BF-337CF0CB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02D20-7B47-429D-89F0-1B8F1DFA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001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MAX MINI APP + 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5A6B9-961E-418E-9201-BC3F7189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28750"/>
            <a:ext cx="542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ТехЗаказ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1D021-DD06-4690-BE2F-60F3EEC4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33625"/>
            <a:ext cx="542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Подбор спецтехники с экипажем</a:t>
            </a:r>
          </a:p>
          <a:p xmlns:a="http://schemas.openxmlformats.org/drawingml/2006/main">
            <a:pPr algn="l">
              <a:defRPr sz="210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для малого бизнеса в Чувашии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24197-CC04-4901-98A2-324A0063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5095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Заказчик описывает задачу обычным текстом, проверяет параметры и получает подходящие предложения от поставщиков.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d7379913b47c2"/>
          <a:srcRect xmlns:a="http://schemas.openxmlformats.org/drawingml/2006/main" l="0" t="3791" r="0" b="37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650" y="495300"/>
            <a:ext cx="2762250" cy="5524500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042C6-A6EF-44B1-8E57-00119684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1150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Рабочий экран MVP, mobile viewport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69A0E-D460-46BB-AB3C-9B6915EB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DE4921-BB3C-4EF6-900B-484374F4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Проект для трека «Эффективный бизнес»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73C8F-A433-48C3-BBFC-3115F743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549620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0F5AF2-10A6-4A97-AB79-436005D3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Проблема пользователя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A647A-B6AD-43CD-9E06-E7B394F3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Приоритетный сегмент: малые подрядчики и ИП, которым техника нужна в конкретный день и для конкретной работы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8703A-56DD-4940-A327-81962D77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50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85050"/>
                </a:solidFill>
                <a:latin typeface="Helvetica Neue"/>
                <a:ea typeface="Helvetica Neue"/>
                <a:cs typeface="Helvetica Neue"/>
              </a:rPr>
              <a:t>Сегодня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5A528-5988-4370-A249-4721BD8E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479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Нужно найти исполнителя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D011F-D000-4E6F-8E2C-74279FFB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Обзвон, чаты и объявления. Доступность, цена и условия сравниваются вручную.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A1714-4D98-478A-9210-BDC6A5F6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52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A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7A62E"/>
                </a:solidFill>
                <a:latin typeface="Helvetica Neue"/>
                <a:ea typeface="Helvetica Neue"/>
                <a:cs typeface="Helvetica Neue"/>
              </a:rPr>
              <a:t>Проблема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4DBCB-71CF-4224-BC48-63570CCF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479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Слишком много параметров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7D360-813E-4B89-AB30-898C21CE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Категория, тоннаж, насадки, место, время, длительность, ограничения площадки и рейтинг поставщика.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166C5-4970-4167-A525-5FC043F1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52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Результат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C953B-3909-44DF-896B-399B5256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479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Неясный выбор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1333DF-6DC4-46AE-9C29-E5CCAC1E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003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Заказчик тратит время до начала работ и не видит прозрачный путь от задачи к подтверждённой заявке.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2A9FF2-B398-4E1D-AE53-FB57639B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5F7A6C-A23D-4F77-8F6F-268156BA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Гипотеза MVP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EBCB6F-152F-41D7-846A-FB14A756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9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Если перевести описание работ в проверяемый черновик и показать релевантные варианты, заказчик быстрее создаст заявку, а поставщик получит структурированный запрос.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E18931-8BA4-4394-91C0-874F1955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649965-04DA-4053-AA68-096E647B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Гипотеза команды. Метрики проверяются на пилоте, а не выдаются за фактический результат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24902F-E2E3-43B0-ACAA-E8113D81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0275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5E29A0-EFC6-4626-88F9-29F0EA25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Путь заказа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991CC-9ACA-43FC-BE00-ADC55BC8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ТехЗаказ сокращает ручной путь до одной понятной последовательности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5671C-8A39-4C80-9609-A25E3465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57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50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85050"/>
                </a:solidFill>
                <a:latin typeface="Helvetica Neue"/>
                <a:ea typeface="Helvetica Neue"/>
                <a:cs typeface="Helvetica Neue"/>
              </a:rPr>
              <a:t>As 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FF20D-61F3-4D91-8385-8D928A91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288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Чаты и звонки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CD184-793B-473C-9D5D-84D8BCAF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87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Уточнение параметров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E494B-22A2-4C32-ADCE-50D64EDA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052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4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Сравнение вручную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FE7C9-34C0-4EC3-9254-59522012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07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Повторные уточнения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12507-4E51-40A5-BED3-AF02357A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45ABB-06A4-49BA-B71D-1A5DE7EB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573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To Be в MAX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F4C2C-C450-48BE-93C3-4546720B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431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E40AA-8449-484A-887A-821B3ADB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19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44229-4FE5-4BE4-BE06-C5967ECA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526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Описать работу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689321-72C9-4785-89B2-0AF16FD4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1937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Обычный текст или ручная форма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AEF3C-ADFB-4ED1-8798-3D822052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575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6D417B-434D-4E0B-8132-3ADBC49E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337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0693B-84BC-4F97-911C-12EB517C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670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Проверить поля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A6734D-C63B-43A7-ACD7-3D4773A4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337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Заказчик сам подтверждает параметры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605841-6B9C-4A8D-A46A-89BE4AA0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719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1D1F65-AC8C-4ACC-B287-E78F64C5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481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7D1E66-15B7-4C4E-8637-FAFDC1EB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8142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Выбрать вариант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C71931-BAB8-4B79-9158-BCAC961E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481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Цена, доступность, рейтинг, объяснение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2F7D2B-6CD6-4D89-8311-BACE16B3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862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4BE9F9-B1BC-4150-A4A0-5526EE54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624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EE1A32-8DD5-44A3-9F7D-D242C154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958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Получить статус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59426C-28FB-4EB3-81EF-1B4819DE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625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Бот и mini app показывают ход заявки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D0E893-C971-4BDC-8AF9-3D7D05DD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76BE68-6470-4617-A4F5-944630D2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Границы MVP: без оплаты, договоров, GPS, госреестров и автоматической публикации поставщиков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0A8ABE-2EDC-40A1-A2F9-E8904EE7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947681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28679C-1399-4263-A896-EE56CD7E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Основной сценарий заказчика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52BFC-A43D-47ED-9A06-C2D6DDD3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От человеческого описания задачи к выбору конкретной техники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63694c9d84f12"/>
          <a:stretch xmlns:a="http://schemas.openxmlformats.org/drawingml/2006/main"/>
        </p:blipFill>
        <p:spPr>
          <a:xfrm xmlns:a="http://schemas.openxmlformats.org/drawingml/2006/main">
            <a:off x="1127200" y="1743075"/>
            <a:ext cx="1936600" cy="419100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ad47d56444c54"/>
          <a:stretch xmlns:a="http://schemas.openxmlformats.org/drawingml/2006/main"/>
        </p:blipFill>
        <p:spPr>
          <a:xfrm xmlns:a="http://schemas.openxmlformats.org/drawingml/2006/main">
            <a:off x="5127700" y="1743075"/>
            <a:ext cx="1936600" cy="419100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ef321b30346a2"/>
          <a:stretch xmlns:a="http://schemas.openxmlformats.org/drawingml/2006/main"/>
        </p:blipFill>
        <p:spPr>
          <a:xfrm xmlns:a="http://schemas.openxmlformats.org/drawingml/2006/main">
            <a:off x="9128200" y="1743075"/>
            <a:ext cx="1936600" cy="419100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FBF89-2F29-4CA7-AD7F-638D4346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1. Описание задачи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6C0C4-886B-423D-A83E-B535CB56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048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2. Проверка полей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758F5-3972-4DA5-8EFC-53722388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048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3. Выбор предложения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3C9A64-5AB9-4954-92AF-AAB25876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3855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0D6FA-6BBF-4B64-8F3B-C4CB08F7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3855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9D8B3-1B6E-4152-A724-B6E1A43E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64C7A-FC7B-4AF1-B03D-9DA5F354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Скриншоты MVP. Каталог, рейтинги и отзывы синтетические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58E585-57BC-4530-8819-C9E231A9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122402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CB737-B5F7-4F6E-8795-D0D895F1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Подбор без чёрного ящика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6EF64-DC67-43D6-B6E2-F457F5CC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Помощник формирует черновик, но решение и подтверждение остаются у пользователя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5340943e34da8"/>
          <a:stretch xmlns:a="http://schemas.openxmlformats.org/drawingml/2006/main"/>
        </p:blipFill>
        <p:spPr>
          <a:xfrm xmlns:a="http://schemas.openxmlformats.org/drawingml/2006/main">
            <a:off x="7856116" y="1543050"/>
            <a:ext cx="2156668" cy="46672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6A073-9E3B-4CE0-9EFA-0FCF35C8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796B4-F382-41D7-95EA-D25A7ED9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47875"/>
            <a:ext cx="541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Текст превращается в поля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45049-56E3-4E14-94FD-3D51F379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95525"/>
            <a:ext cx="541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Категория, место, дата, длительность и ограничения заполняются только как черновик.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FFB72-4FB2-4593-AEFB-E97C179D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670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479FE-2663-41D1-B7B7-10D7A2D9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541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Поля редактируемы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5ACA4-9EDE-4064-9ACA-998B700F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541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Пользователь видит и исправляет параметры до запроса предложений.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3A8BBC-851F-404E-B9AD-55E3B453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2BB01-7FE6-48EC-BB86-18A985FF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91025"/>
            <a:ext cx="541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Ранжирование объяснимо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C4A6D-81B0-403B-980F-BA81F56D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38675"/>
            <a:ext cx="541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В карточке видны цена смены, подача, рейтинг, отзывы и причина соответствия.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6E5CFB-CAC5-4DDD-ACBC-D58EFE0B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45FBE-971C-49C2-AE04-B6785ECD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Текущая реализация: воспроизводимый mock-парсер для трёх демонстрационных сценариев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61ECD9-34E2-48C8-BAB2-F888DA64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736814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AE7240-1B33-4166-864D-96EEA8F5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Жизненный цикл заявки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5BB08-D66F-4FF2-AAC8-BD0928B2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Заказчик, поставщик и бот видят согласованное состояние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DFDF5-A58C-459F-8816-20826A87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1905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6F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9C38A-A224-4859-B754-903756CD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1905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A62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AD774-5E38-4BAC-ACC8-3F008E73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62890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A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E7A62E"/>
                </a:solidFill>
                <a:latin typeface="Helvetica Neue"/>
                <a:ea typeface="Helvetica Neue"/>
                <a:cs typeface="Helvetica Neue"/>
              </a:rPr>
              <a:t>NEW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7E194-4B1B-4B52-8B3C-1C2D96DC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9146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Новая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CF9B8-D9D9-4474-A822-3BE0736E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667000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DB472-5AA2-4CF7-8DC2-641E339D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1905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6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C8B4B-55A8-4364-812F-3B7883E4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1905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796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E6A4F3-D011-4849-B0B5-72043F03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2890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CONFIRMED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045B8A-B28B-41E7-9DD1-E5C132B5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146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Подтверждена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5CF6E-3A95-46DC-8FFF-A5F13E5F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67000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7E9677-7985-453A-8B58-C624725C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81250"/>
            <a:ext cx="1905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6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E75571-EAF3-4F46-86B0-11128971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81250"/>
            <a:ext cx="1905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72B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245B55-57DC-40B1-8F69-0751A111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2890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2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972BC"/>
                </a:solidFill>
                <a:latin typeface="Helvetica Neue"/>
                <a:ea typeface="Helvetica Neue"/>
                <a:cs typeface="Helvetica Neue"/>
              </a:rPr>
              <a:t>IN PROGRESS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703D2E-D8DD-4718-B0A1-7E7477ED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146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В работе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21179D-26A7-4A35-94C4-823194AE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667000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5B07B3-D39A-4956-A416-EA0D5636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81250"/>
            <a:ext cx="1905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6F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1FE542-2762-4A7C-8B6F-320A3E25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81250"/>
            <a:ext cx="1905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726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43DDCB-40A3-48E3-823B-5DE4DD8B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62890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726C"/>
                </a:solidFill>
                <a:latin typeface="Helvetica Neue"/>
                <a:ea typeface="Helvetica Neue"/>
                <a:cs typeface="Helvetica Neue"/>
              </a:rPr>
              <a:t>COMPLETED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02281F-37D4-4E8C-9F31-38BAF1BB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146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Завершена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F5CA2D-79F5-47D9-A946-159325CA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После подтверждения доступны запрос звонка, уведомление и история изменения статусов. После завершения заказчик оставляет один отзыв.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f557a50624d85"/>
          <a:srcRect xmlns:a="http://schemas.openxmlformats.org/drawingml/2006/main" l="0" t="37485" r="0" b="374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4810125"/>
            <a:ext cx="2286000" cy="123825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DE0489-90B9-468A-8A28-E34254DE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C41D0D-230F-45A8-A9EA-B38D98D0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Состояния валидируются бэкендом; недопустимые переходы возвращают контролируемую ошибку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16C3B0-7684-4094-8DC3-32388F50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043016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F2A221-0BBA-4F03-994C-1E6F6B6B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Архитектура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AB596-4E5B-4F98-8AC1-5B217693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Четыре компонента в Docker и понятный путь 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5026D-2F91-4DFC-943E-213D0030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2076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BFB5A-039D-4174-ABE8-99BB9474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BCE58-21DC-4210-AA05-A7E45174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F4FA6-2157-4385-B53F-FDEA2FCC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MAX bot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31C61-952E-432B-848B-2A988654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Вход, deep link, уведомления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47174-FD6C-4FB9-87B7-60B49417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051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59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26642-D0A8-48CD-9907-94A5402A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09850"/>
            <a:ext cx="2076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12450-3149-46EE-B319-75CA635F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00350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7644A-16F2-4F16-B34E-9D82F0B1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575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4D01E8-B2BD-4A0B-95C5-03560861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48025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Mini app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856800-7452-40E5-B8D8-11CD2D89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6235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React-интерфейс, mobile/web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39A7E-BDCD-417B-B4FC-13C2C47B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1051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59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7C9A2-65F9-4373-83EB-F67CB973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09850"/>
            <a:ext cx="2076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40C5E-8C64-43A9-909B-643F139E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00350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B5C887-C142-4974-8377-FC7B586A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575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B49B0A-07CF-49A9-9C45-82F32677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48025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45161E-3398-4BCE-8D13-ADEF6039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6235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Права, заявки, статусы, подбор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492F81-37D8-47F9-A522-E196C497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051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59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6D01AD-B21F-4D9B-ADFB-292D9DF1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09850"/>
            <a:ext cx="2076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CDEA46-AE62-47EF-AC89-59D69A7D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00350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1051EE-A5CB-438F-80C3-55EEB9AF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E77351-4D2D-4C5F-A882-CD031E55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48025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ECA8F8-77C8-410F-8BB2-8F334C36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6235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Тестовые данные и журнал событий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16BF0A-1528-4A72-A549-0EC160F5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857750"/>
            <a:ext cx="623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Локальный запуск: docker compose up --build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AE97A5-1B56-48EF-A5BF-BE881DB6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314950"/>
            <a:ext cx="766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Развёртывание: один сервер, reverse proxy, публичный HTTPS, секреты только в окружении.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09A3BD-AC75-4F46-90C6-966FF53C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FCEFCF-B9F7-4490-9109-F37F9D49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В production MAX WebAppData проверяется на бэкенде; demo-роли не используются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58A0CC-5219-4078-9E8F-16CE47F8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644076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5F28A4-92E1-4729-85EA-231269CC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Честная модель данных и безопасность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79C86-392A-44DC-8CE7-A0AA9207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Проверяемость важнее имитации несуществующих интеграций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2F12F-9387-4B98-9C6B-A8A86C25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В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8802C-71C0-482F-B1AC-95DB0857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526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52E2C-EC15-40AF-B0DE-3A1088C3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3 модельных поставщика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CE4BE-207E-4754-9AA2-C8576183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5270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Каталог поставщиков не выдается за реестр реальных организаций.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425E6-1704-4730-B6B2-86AB8ACC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5B3B3-9431-485B-B4BC-F70E9F4A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10 единиц техники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3B5E3-CA60-4146-A76A-578AE81B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8615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Четыре категории пилота: автокран, трактор, самосвал, экскаватор-погрузчик.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E418D3-89A4-4555-98BB-8AB6690F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95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8C0CD-5A29-4298-A851-D118D6E5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7195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Dry-run уведомления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9A93BC-7069-437A-AA36-4E267A5B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Без токена MAX события сохраняются и проверяются без реальной доставки.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395FD-D8E4-411E-8900-231F4AFA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47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Защита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FF80E-7584-4952-BACA-7B6E7946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526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6085EA-46A4-4EFB-872B-DF56BD2D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0505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Секреты вне репозитория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1971ED-E753-4721-B8CA-F8DCEB71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5270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Токен передается только через переменные окружения или secret store.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4A7B28-AE5D-4E6D-A461-67EE5D0A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F437AD-4FAA-4889-BA62-4FA79CD0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3850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Проверка WebAppData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3C35DB-7FB8-4819-9697-4E9BDD6E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8615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В production аутентификация идет через серверную HMAC-проверку данных MAX.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5A614A-139E-4865-9FF7-99B56BFF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195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9F2567-6463-4270-A901-A2420A53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7195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Контролируемые ошибки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CC9F1C-6E42-4A6A-A71D-47201E7D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1960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Права, повторный отзыв и недопустимый статус обрабатываются API.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4A5732-4FE6-41D7-9D77-8CFAE0F0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268177-76ED-4015-93AC-7F7104A6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Синтетические данные и ограничения указаны в README, QA checklist и презентации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62C0B4-7115-4EDC-8217-651DFA9C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548836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077755-5E91-4C7E-8ABD-7061A6BB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Пилот в Чувашской Республике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A018C-5E89-4BD5-91E8-22CFB3FD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Проверяем не абстрактную «полезность», а изменение конкретного процесса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CF52A-3061-43EF-ADBC-5E057027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29908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FD0F4-3768-4AAB-88B0-B21A3164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Контур пилота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0D63A-D704-4C2E-B4D4-5BD44B4B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49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Чебоксары, Новочебоксарск</a:t>
            </a:r>
          </a:p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и ближайшие населённые пункты</a:t>
            </a:r>
          </a:p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3 модельных поставщика</a:t>
            </a:r>
          </a:p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4 категории, 10 единиц</a:t>
            </a:r>
          </a:p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Заказчик + диспетчер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B986C-D925-4915-A42F-C113A739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885950"/>
            <a:ext cx="29908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D778B-1A47-42A5-9E5C-237442D6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190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Метрики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1F43F-C09E-44BC-A837-8B26C476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686050"/>
            <a:ext cx="2286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Время до заявки</a:t>
            </a:r>
          </a:p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Доля заявок с подбором</a:t>
            </a:r>
          </a:p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Время ответа поставщика</a:t>
            </a:r>
          </a:p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Доля подтверждённых заявок</a:t>
            </a:r>
          </a:p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Оценка после выполнения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7E6A94-65C2-4B04-8B16-F0237564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29908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57A476-235F-4287-8F80-FF3BA999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Решение по пилоту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586FC-CFA7-4A54-B170-65D62ADE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86050"/>
            <a:ext cx="228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47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Сравнить с текущим ручным способом.</a:t>
            </a:r>
          </a:p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Проверить, какие поля чаще исправляют.</a:t>
            </a:r>
          </a:p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Расширять каталог только после подтверждения ценности.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DE093C-C9D2-450F-B844-CA08F8B8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81625"/>
            <a:ext cx="845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Показатели являются планом измерения. Фактических результатов пилота пока нет.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8916A6-64D5-4185-B7C9-69B037C3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56612-F3B8-450E-87DB-846C7CD0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Первый запуск ограничен регионом и поставщиками, чтобы проверить путь от заявки до результата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72E11-574F-4638-819C-7B827226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699447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68A256-37EF-4785-A7D5-CCDBD335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Тиражирование после пилота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97A69-387B-49F9-8E3D-3B627B28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Масштабирование строится на переносимом ядре и понятных переменных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A876D-9393-447F-AD85-285C3A12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Ядро сохраняется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E38F0-0281-48C7-94B3-19B1E6C1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342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• заявка из текста или формы</a:t>
            </a:r>
          </a:p>
          <a:p xmlns:a="http://schemas.openxmlformats.org/drawingml/2006/main">
            <a:pPr algn="l">
              <a:def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• проверка параметров</a:t>
            </a:r>
          </a:p>
          <a:p xmlns:a="http://schemas.openxmlformats.org/drawingml/2006/main">
            <a:pPr algn="l">
              <a:def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• подбор и объяснение</a:t>
            </a:r>
          </a:p>
          <a:p xmlns:a="http://schemas.openxmlformats.org/drawingml/2006/main">
            <a:pPr algn="l">
              <a:def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• роли заказчика и диспетчера</a:t>
            </a:r>
          </a:p>
          <a:p xmlns:a="http://schemas.openxmlformats.org/drawingml/2006/main">
            <a:pPr algn="l">
              <a:def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• статусы, уведомления, отзыв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3BC0B-D3EE-4844-8380-6AB11307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809750"/>
            <a:ext cx="9525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37FA0-BAB1-4D99-9D4D-BED4628E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Адаптируется по региону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5E3AB-702A-47F8-B89F-85CF12AF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3905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• каталог и доступность техники</a:t>
            </a:r>
          </a:p>
          <a:p xmlns:a="http://schemas.openxmlformats.org/drawingml/2006/main">
            <a:pPr algn="l">
              <a:def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• поставщики и правила верификации</a:t>
            </a:r>
          </a:p>
          <a:p xmlns:a="http://schemas.openxmlformats.org/drawingml/2006/main">
            <a:pPr algn="l">
              <a:def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• зона обслуживания и цены</a:t>
            </a:r>
          </a:p>
          <a:p xmlns:a="http://schemas.openxmlformats.org/drawingml/2006/main">
            <a:pPr algn="l">
              <a:def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• интеграции с CRM/документами</a:t>
            </a:r>
          </a:p>
          <a:p xmlns:a="http://schemas.openxmlformats.org/drawingml/2006/main">
            <a:pPr algn="l">
              <a:def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• локальная команда пилота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E792F-B687-4706-9B75-1E2AEA8D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9810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F6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DA59D-DE3C-4551-8B02-165093AC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721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42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Следующий шаг: подключить проверенных поставщиков, провести интервью и измерить путь первой реальной заявки.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363A21-1209-40F2-B182-4EB633E0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44D152-A42A-4985-80A6-AA764DA8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Порядок: Чувашия -&gt; соседние регионы с партнёрами -&gt; подключение проверенных поставщиков и интеграций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231BB-7570-4ACE-8BA9-CEC54896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865066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C796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5816D-A1D8-4108-85B8-3475258F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953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972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ТехЗаказ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59D38-63FE-46AB-A93D-0B271677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748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Понятный путь от задачи до подтверждённой заявки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на технику с экипажем внутри MAX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A1765-4659-436E-9956-7525AF81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735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A79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CBCEB-9CB1-470B-AC03-DBEF2314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F0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7F05B"/>
                </a:solidFill>
                <a:latin typeface="Helvetica Neue"/>
                <a:ea typeface="Helvetica Neue"/>
                <a:cs typeface="Helvetica Neue"/>
              </a:rPr>
              <a:t>Что уже подготовлено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D9455-9A5D-4382-86B6-2DCB5280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685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Работающий сценарий заказа и диспетчера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OpenAPI, DATA-API, testdata и QA checklist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PDF-презентация и сценарий демонстрации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  План интервью для проверки продуктовой гипотезы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B5988-126E-49E3-A2B9-BD3DB7F8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43575"/>
            <a:ext cx="5219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2C1ABF-9F71-49DD-A4CC-5AB8526E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00725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ДЕМО: БОТ -&gt; MINI APP -&gt; ЗАЯВКА -&gt; СТАТУС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9F933-6423-462F-806C-3BF19F46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768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Спасибо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C45E2-4C49-48C0-BDE9-49775D15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694F6B-9F0F-4902-A325-016C39C5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ТехЗаказ | MVP для трека «Эффективный бизнес»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9D836B-99AD-4EC5-BD06-EE3EBA5F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643682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2026-09-29T12:06:52.7960000Z</dcterms:created>
  <dcterms:modified xsi:type="dcterms:W3CDTF">2026-09-29T12:06:52.7960000Z</dcterms:modified>
</coreProperties>
</file>