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d7ab83b7e14bfc" /><Relationship Type="http://schemas.openxmlformats.org/officeDocument/2006/relationships/extended-properties" Target="/docProps/app.xml" Id="R1184b3a5009b4975" /><Relationship Type="http://schemas.openxmlformats.org/officeDocument/2006/relationships/officeDocument" Target="/ppt/presentation.xml" Id="Rb41c393a5ad644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8244d0a8d44ed9"/>
  </p:sldMasterIdLst>
  <p:notesMasterIdLst>
    <p:notesMasterId xmlns:r="http://schemas.openxmlformats.org/officeDocument/2006/relationships" r:id="R4659adba69714db9"/>
  </p:notesMasterIdLst>
  <p:sldIdLst>
    <p:sldId xmlns:r="http://schemas.openxmlformats.org/officeDocument/2006/relationships" id="256" r:id="Rcd81db47b1a64f2c"/>
    <p:sldId xmlns:r="http://schemas.openxmlformats.org/officeDocument/2006/relationships" id="257" r:id="R51ce76bd43474b16"/>
    <p:sldId xmlns:r="http://schemas.openxmlformats.org/officeDocument/2006/relationships" id="258" r:id="R99f9b6562b654d51"/>
    <p:sldId xmlns:r="http://schemas.openxmlformats.org/officeDocument/2006/relationships" id="259" r:id="Rd1cf8908fa264a3e"/>
    <p:sldId xmlns:r="http://schemas.openxmlformats.org/officeDocument/2006/relationships" id="260" r:id="R5e074f834e1d4b83"/>
    <p:sldId xmlns:r="http://schemas.openxmlformats.org/officeDocument/2006/relationships" id="261" r:id="R467460ae34d241bd"/>
    <p:sldId xmlns:r="http://schemas.openxmlformats.org/officeDocument/2006/relationships" id="262" r:id="R391d850f8f7e409e"/>
    <p:sldId xmlns:r="http://schemas.openxmlformats.org/officeDocument/2006/relationships" id="263" r:id="R7be29bf198a445e1"/>
    <p:sldId xmlns:r="http://schemas.openxmlformats.org/officeDocument/2006/relationships" id="264" r:id="R5326e2adbe814010"/>
    <p:sldId xmlns:r="http://schemas.openxmlformats.org/officeDocument/2006/relationships" id="265" r:id="Rfca429db335549cd"/>
    <p:sldId xmlns:r="http://schemas.openxmlformats.org/officeDocument/2006/relationships" id="266" r:id="R21b5c60bd0c542c8"/>
    <p:sldId xmlns:r="http://schemas.openxmlformats.org/officeDocument/2006/relationships" id="267" r:id="R1a21db241ba045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002251d39d47c8" /><Relationship Type="http://schemas.openxmlformats.org/officeDocument/2006/relationships/slideMaster" Target="/ppt/slideMasters/slideMaster1.xml" Id="Rc88244d0a8d44ed9" /><Relationship Type="http://schemas.openxmlformats.org/officeDocument/2006/relationships/notesMaster" Target="/ppt/notesMasters/notesMaster1.xml" Id="R4659adba69714db9" /><Relationship Type="http://schemas.openxmlformats.org/officeDocument/2006/relationships/presProps" Target="/ppt/presProps.xml" Id="Rdee99da078d342e7" /><Relationship Type="http://schemas.openxmlformats.org/officeDocument/2006/relationships/tableStyles" Target="/ppt/tableStyles.xml" Id="Ra39784ccf65e4be0" /><Relationship Type="http://schemas.openxmlformats.org/officeDocument/2006/relationships/slide" Target="/ppt/slides/slide1.xml" Id="Rcd81db47b1a64f2c" /><Relationship Type="http://schemas.openxmlformats.org/officeDocument/2006/relationships/slide" Target="/ppt/slides/slide2.xml" Id="R51ce76bd43474b16" /><Relationship Type="http://schemas.openxmlformats.org/officeDocument/2006/relationships/slide" Target="/ppt/slides/slide3.xml" Id="R99f9b6562b654d51" /><Relationship Type="http://schemas.openxmlformats.org/officeDocument/2006/relationships/slide" Target="/ppt/slides/slide4.xml" Id="Rd1cf8908fa264a3e" /><Relationship Type="http://schemas.openxmlformats.org/officeDocument/2006/relationships/slide" Target="/ppt/slides/slide5.xml" Id="R5e074f834e1d4b83" /><Relationship Type="http://schemas.openxmlformats.org/officeDocument/2006/relationships/slide" Target="/ppt/slides/slide6.xml" Id="R467460ae34d241bd" /><Relationship Type="http://schemas.openxmlformats.org/officeDocument/2006/relationships/slide" Target="/ppt/slides/slide7.xml" Id="R391d850f8f7e409e" /><Relationship Type="http://schemas.openxmlformats.org/officeDocument/2006/relationships/slide" Target="/ppt/slides/slide8.xml" Id="R7be29bf198a445e1" /><Relationship Type="http://schemas.openxmlformats.org/officeDocument/2006/relationships/slide" Target="/ppt/slides/slide9.xml" Id="R5326e2adbe814010" /><Relationship Type="http://schemas.openxmlformats.org/officeDocument/2006/relationships/slide" Target="/ppt/slides/slide10.xml" Id="Rfca429db335549cd" /><Relationship Type="http://schemas.openxmlformats.org/officeDocument/2006/relationships/slide" Target="/ppt/slides/slide11.xml" Id="R21b5c60bd0c542c8" /><Relationship Type="http://schemas.openxmlformats.org/officeDocument/2006/relationships/slide" Target="/ppt/slides/slide12.xml" Id="R1a21db241ba045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3fa975b69948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af0cd1bc3442d1" /><Relationship Type="http://schemas.openxmlformats.org/officeDocument/2006/relationships/notesMaster" Target="/ppt/notesMasters/notesMaster1.xml" Id="Rd87715af08c44f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81936b7a9b4619" /><Relationship Type="http://schemas.openxmlformats.org/officeDocument/2006/relationships/notesMaster" Target="/ppt/notesMasters/notesMaster1.xml" Id="Rb9a0769a23c844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03b2ca6d3748a4" /><Relationship Type="http://schemas.openxmlformats.org/officeDocument/2006/relationships/notesMaster" Target="/ppt/notesMasters/notesMaster1.xml" Id="Rc21d76b3f14a49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e0705dd09f46d7" /><Relationship Type="http://schemas.openxmlformats.org/officeDocument/2006/relationships/notesMaster" Target="/ppt/notesMasters/notesMaster1.xml" Id="R1ef3c2e178d045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bf4aa9d58743aa" /><Relationship Type="http://schemas.openxmlformats.org/officeDocument/2006/relationships/notesMaster" Target="/ppt/notesMasters/notesMaster1.xml" Id="R9ac105b41ea54e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4b5757f23946cb" /><Relationship Type="http://schemas.openxmlformats.org/officeDocument/2006/relationships/notesMaster" Target="/ppt/notesMasters/notesMaster1.xml" Id="Ra83202e9feda44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e76801ff6647cc" /><Relationship Type="http://schemas.openxmlformats.org/officeDocument/2006/relationships/notesMaster" Target="/ppt/notesMasters/notesMaster1.xml" Id="R352bd44a84d445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b0ffc39e384d58" /><Relationship Type="http://schemas.openxmlformats.org/officeDocument/2006/relationships/notesMaster" Target="/ppt/notesMasters/notesMaster1.xml" Id="R1b70ecf8712342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bc60042ac34da9" /><Relationship Type="http://schemas.openxmlformats.org/officeDocument/2006/relationships/notesMaster" Target="/ppt/notesMasters/notesMaster1.xml" Id="R4f29971ecb2a45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b1b1cb30b646f0" /><Relationship Type="http://schemas.openxmlformats.org/officeDocument/2006/relationships/notesMaster" Target="/ppt/notesMasters/notesMaster1.xml" Id="Re11ed1e7967440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7f74c545224273" /><Relationship Type="http://schemas.openxmlformats.org/officeDocument/2006/relationships/notesMaster" Target="/ppt/notesMasters/notesMaster1.xml" Id="Rb8c2278b393749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9cd52e96f44d1b" /><Relationship Type="http://schemas.openxmlformats.org/officeDocument/2006/relationships/notesMaster" Target="/ppt/notesMasters/notesMaster1.xml" Id="R9f03db23ec3b45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Служебный слайд не рассказываем подробно. Указан проверяемый commit с исходниками, документацией и API-спецификациями.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ТехЗаказ решает одну конкретную задачу: быстро найти технику с экипажем для работ в Чувашской Республике.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говорим, что рынок полностью не цифровизирован. Показываем конкретную точку: человеку нужно сопоставить много параметров и получить результат быстрее.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Основной сценарий намеренно узкий. Он заканчивается подтверждаемой заявкой и отслеживанием статуса, а не пытается автоматизировать весь рынок аренды.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Показываем конкретный пример: «Нужен самосвал КамАЗ в Новочебоксарске завтра к 8:00 на смену, вывезти грунт с участка».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сильное место продукта: мы не прячем заявку за ИИ. Помощник уменьшает ввод, пользователь подтверждает поля, диспетчер подтверждает доступность.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Заявка не создаёт оплату и не обещает доступность. Она поступает поставщику, который меняет статус. Это реалистичная граница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Собственный API здесь нужен для логики заявок и состояний. Он не заявляется как самоцель и будет описан в OpenAPI после деплоя.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Особенно подчеркнуть, что настоящие поставщики и рейтинги появятся только после договоренностей о пилоте и правил верификации.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показываем выдуманные деньги или проценты. Показываем, как именно будет проверяться эффект после запуска.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фиксируем ценность в одном регионе, затем расширяем каталог только с проверенными поставщиками и измеренными результатами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Финальное резюме: основной пакет готов. На владельце остаётся финальная приёмка в MAX и подстановка username бота и hash последнего commit.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dd9158da44d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1136b9a38942e5" /><Relationship Type="http://schemas.openxmlformats.org/officeDocument/2006/relationships/slideLayout" Target="/ppt/slideLayouts/slideLayout1.xml" Id="Rd414555e4bbf47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14555e4bbf47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b29bfffc74961" /><Relationship Type="http://schemas.openxmlformats.org/officeDocument/2006/relationships/notesSlide" Target="/ppt/notesSlides/notesSlide1.xml" Id="Rb69d4655472247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99f01e1894b01" /><Relationship Type="http://schemas.openxmlformats.org/officeDocument/2006/relationships/image" Target="/ppt/media/image.png" Id="R5b2f16bf299d4298" /><Relationship Type="http://schemas.openxmlformats.org/officeDocument/2006/relationships/notesSlide" Target="/ppt/notesSlides/notesSlide2.xml" Id="R55757eea0a684e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b22f369a4514" /><Relationship Type="http://schemas.openxmlformats.org/officeDocument/2006/relationships/notesSlide" Target="/ppt/notesSlides/notesSlide3.xml" Id="R1340f7dc7aa548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b397433f440bb" /><Relationship Type="http://schemas.openxmlformats.org/officeDocument/2006/relationships/notesSlide" Target="/ppt/notesSlides/notesSlide4.xml" Id="R4578891ed3ee45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50839dac449ca" /><Relationship Type="http://schemas.openxmlformats.org/officeDocument/2006/relationships/image" Target="/ppt/media/image2.png" Id="R7e24461e990a4143" /><Relationship Type="http://schemas.openxmlformats.org/officeDocument/2006/relationships/image" Target="/ppt/media/image3.png" Id="R0e700623bdb747d8" /><Relationship Type="http://schemas.openxmlformats.org/officeDocument/2006/relationships/image" Target="/ppt/media/image4.png" Id="R488a08eb321a49a5" /><Relationship Type="http://schemas.openxmlformats.org/officeDocument/2006/relationships/notesSlide" Target="/ppt/notesSlides/notesSlide5.xml" Id="Reeaf2a15f05e45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56f3790b54ff8" /><Relationship Type="http://schemas.openxmlformats.org/officeDocument/2006/relationships/image" Target="/ppt/media/image5.png" Id="R71e6c62b16e24d36" /><Relationship Type="http://schemas.openxmlformats.org/officeDocument/2006/relationships/notesSlide" Target="/ppt/notesSlides/notesSlide6.xml" Id="Rf99e3801017742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b77d955224fe3" /><Relationship Type="http://schemas.openxmlformats.org/officeDocument/2006/relationships/image" Target="/ppt/media/image6.png" Id="Rd036425740f14c01" /><Relationship Type="http://schemas.openxmlformats.org/officeDocument/2006/relationships/notesSlide" Target="/ppt/notesSlides/notesSlide7.xml" Id="Rf3473d1fd73940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57e9ce2bb447c" /><Relationship Type="http://schemas.openxmlformats.org/officeDocument/2006/relationships/notesSlide" Target="/ppt/notesSlides/notesSlide8.xml" Id="Ra90f4e86ba2a4d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768d3b5a248ba" /><Relationship Type="http://schemas.openxmlformats.org/officeDocument/2006/relationships/notesSlide" Target="/ppt/notesSlides/notesSlide9.xml" Id="Re3957b8f2e474a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80c1696344e8f" /><Relationship Type="http://schemas.openxmlformats.org/officeDocument/2006/relationships/notesSlide" Target="/ppt/notesSlides/notesSlide10.xml" Id="R5a938603b0bd4a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d04852cdd490e" /><Relationship Type="http://schemas.openxmlformats.org/officeDocument/2006/relationships/notesSlide" Target="/ppt/notesSlides/notesSlide11.xml" Id="Re2eceab400af4e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58313a2424735" /><Relationship Type="http://schemas.openxmlformats.org/officeDocument/2006/relationships/notesSlide" Target="/ppt/notesSlides/notesSlide12.xml" Id="Rd5a05f7cb80542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6AD92-4B5D-4EEB-8A71-2EBDF1AC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009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796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6D781-E4F2-4E96-B94F-2F985196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2819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СЛУЖЕБНЫЙ СЛАЙД ДЛЯ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A71C8-FAE2-46A9-B185-5FF5BE58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ТехЗаказ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CE13D-E9B6-4A15-9D84-4672ED24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38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MVP подбора спецтехники с экипажем в 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9AC32-F660-435C-A15D-1FE29BBA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22C8F-37B1-4677-99F4-58B4D893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Ссылка на бот 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833A8-C8BE-4485-B993-4D5B406D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@t52_hakaton_max_bot</a:t>
            </a:r>
          </a:p>
          <a:p xmlns:a="http://schemas.openxmlformats.org/drawingml/2006/main">
            <a:pPr algn="l">
              <a:def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https://web.max.ru/51922339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ABF29-667D-48F9-AD3F-F3CBB876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Mini app /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8E920-2297-42A5-93F0-A573F15A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https://max-ai.5.63.152.157.sslip.io/</a:t>
            </a:r>
          </a:p>
          <a:p xmlns:a="http://schemas.openxmlformats.org/drawingml/2006/main">
            <a:pPr algn="l">
              <a:defRPr sz="11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API: тот же origin /api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2C4DC-4780-4E33-AD03-CB15A87B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Репозиторий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6E467-4FFE-4AC0-B07C-6D7B1F2C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github.com/dimakpa/Max-Hack-App-mini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29CAF-0A67-4C2C-A41E-DE8D0B22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Проверяемый commit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59DC2-BF18-4F97-88D9-2D26ACA9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45bff0da27c32f342cc0b7bfe4cc983e2fdf73c7</a:t>
            </a:r>
          </a:p>
          <a:p xmlns:a="http://schemas.openxmlformats.org/drawingml/2006/main">
            <a:pPr algn="l">
              <a:defRPr sz="9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Пакет исходников и документации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E6DA9-FAF3-46E4-9C87-2EC5424A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Порядок проверки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33BA8-70CB-4FDA-A9C7-93F04A13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Бот -&gt; mini app -&gt; текст заявки -&gt; проверка полей -&gt; подбор -&gt; выбор -&gt; заявка -&gt; подтверждение диспетчером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FAFB4-A7DE-4324-9D75-7A01F638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Тест API локально: DEMO_AUTH=true; x-demo-user: customer, dispatcher-a, dispatcher-b, dispatcher-c; паролей нет.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0B64B5-28D3-4411-B190-14869D6A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C5C17-3827-4069-ABE4-82B7A69E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Секреты не включены: для проверки используются MAX-доступ и окружение сервера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F6C01-5747-46EC-9EA0-B7B76E42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3283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38303-EC3B-40E6-B08D-8B692575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DC2E5-FD21-42D8-AB07-8427B892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" cy="495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D1BB1-E974-476B-A0E2-42EDFFCB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E41A5-58F3-461E-B358-FCA7AE37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001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MAX MINI APP + 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CC347-CCC3-4331-870D-F99CBA86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2875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ТехЗаказ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CECE3-E694-4DCF-9939-2459E9B1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Подбор спецтехники с экипажем</a:t>
            </a:r>
          </a:p>
          <a:p xmlns:a="http://schemas.openxmlformats.org/drawingml/2006/main">
            <a:pPr algn="l">
              <a:defRPr sz="21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для малого бизнеса в Чувашии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0FDA4-8D6E-4F74-A775-CFA9A442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5095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Заказчик описывает задачу обычным текстом, проверяет параметры и получает подходящие предложения от поставщиков.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f16bf299d4298"/>
          <a:srcRect xmlns:a="http://schemas.openxmlformats.org/drawingml/2006/main" l="0" t="3791" r="0" b="37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495300"/>
            <a:ext cx="2762250" cy="552450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8C6C9-5810-4C9C-AD52-8BE2A091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1150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Рабочий экран MVP, mobile viewport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42F2B-6B1C-4C53-BA94-7F44B711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3D8B6-654C-4500-BA70-6BA3B6E4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Проект для трека «Эффективный бизнес»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D0F6A-AF7C-4C11-945A-74507713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61951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3CF93-B9BE-4E1E-B1D9-92495C7A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Проблема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DB138-67DA-4EBC-BEA4-DE9429A0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Приоритетный сегмент: малые подрядчики и ИП, которым техника нужна в конкретный день и для конкретной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705D9-A6A7-4E70-9313-74BD5135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0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85050"/>
                </a:solidFill>
                <a:latin typeface="Helvetica Neue"/>
                <a:ea typeface="Helvetica Neue"/>
                <a:cs typeface="Helvetica Neue"/>
              </a:rPr>
              <a:t>Сегодня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DEF7F-E32B-4A44-B32E-E1148869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Нужно найти исполнителя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2499F-AA5F-4839-B155-F5CF566B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Обзвон, чаты и объявления. Доступность, цена и условия сравниваются вручную.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24E6A-902A-4B13-ABC4-E65E40D6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52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A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7A62E"/>
                </a:solidFill>
                <a:latin typeface="Helvetica Neue"/>
                <a:ea typeface="Helvetica Neue"/>
                <a:cs typeface="Helvetica Neue"/>
              </a:rPr>
              <a:t>Проблема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044A2-B051-46DB-BBC0-9993DB9A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Слишком много параметров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060E4-7E3F-430C-BEC6-C554CC05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Категория, тоннаж, насадки, место, время, длительность, ограничения площадки и рейтинг поставщика.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B0CE9-9788-4B24-B146-B7CCD465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52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AEBA7-F3DC-4140-A8D0-448FE84B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Неясный выбор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42976-FFD8-417B-B601-EB3E97A6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003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Заказчик тратит время до начала работ и не видит прозрачный путь от задачи к подтверждённой заявке.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ED1F1-6B6F-4053-A301-FE8AD849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C4CD5-D3F3-4F4F-B030-F72EA741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Гипотеза 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0D362-9CC3-4FD9-9EAE-F6F30F65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9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Если перевести описание работ в проверяемый черновик и показать релевантные варианты, заказчик быстрее создаст заявку, а поставщик получит структурированный запрос.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16961-CE09-4F09-AB6A-6E5DAA4D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17412-BB85-46C2-A81D-327E2CF9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Гипотеза команды. Метрики проверяются на пилоте, а не выдаются за фактический 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81BC7-57F3-494A-9F68-E6C908B7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0386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AD5A7-E9ED-4314-8A0C-1C71D455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Путь заказа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0D641-E46A-4A60-BF91-ECF1AE81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ТехЗаказ сокращает ручной путь до одной понятной последовательности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CD04A-8814-4BFB-B994-A3D09C3C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50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85050"/>
                </a:solidFill>
                <a:latin typeface="Helvetica Neue"/>
                <a:ea typeface="Helvetica Neue"/>
                <a:cs typeface="Helvetica Neue"/>
              </a:rPr>
              <a:t>As 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D3F5F-207D-46F6-93BD-A1CA4B11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Чаты и звонки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7D976-A220-460A-9C7C-DDD12763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8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Уточнение параметров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CFF0A-F9FC-4F4F-8C5C-EE40FAE5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Сравнение вручную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16FB2-CF15-4071-9406-4BB11B1D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0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Повторные уточнения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265B9-224A-49B2-B61C-66C045B0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C348A-C1C6-4326-B57D-6CE577C9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57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To Be в 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939DB-57F4-4FB7-9C25-68FC582A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431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0534B-D1EA-4550-9733-31552A3E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193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42E09-D689-4000-90A3-E8C43D75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Описать работу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BEB95-4666-49E6-8755-32434AA3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193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Обычный текст или ручная форма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CF55C-FBFD-4630-BDAD-72F526EC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F3587-0FDC-47DA-995A-868B4C10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337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77818-91CF-4BC0-9E88-39D43886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Проверить поля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30FC6-1381-4205-9DCC-DAFCD68C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Заказчик сам подтверждает параметры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CEE2F3-712A-4F68-8288-60608792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7190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A72FA-DC4E-4BEE-946F-8C4CE0E7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48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AC112-E48C-44C0-9B06-BA19649B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814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Выбрать вариант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8851E-22BB-45ED-ADB0-304E8F0D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4812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Цена, доступность, рейтинг, объяснение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E421B9-948B-4B05-9013-D384D549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862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97974-BFA3-4570-A69A-4E7EE869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624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E36915-4E90-4AF6-88D2-3734AC99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958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Получить статус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33E16F-716E-477A-B760-A14C66AD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62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Бот и mini app показывают ход заявки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E9756-F445-4998-9FA8-C4425409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5EFED4-383F-4BCA-92B1-0ECF4E4B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Границы MVP: без оплаты, договоров, GPS, госреестров и автоматической публикации поставщиков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88BF2-EBFC-4F55-BF3D-809FFA93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64071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6D693-4E21-4BB0-BA1D-4C754170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Основной сценарий заказчика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D4279-2B5C-40AD-9C6B-D90D46F0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От человеческого описания задачи к выбору конкретной техники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4461e990a4143"/>
          <a:stretch xmlns:a="http://schemas.openxmlformats.org/drawingml/2006/main"/>
        </p:blipFill>
        <p:spPr>
          <a:xfrm xmlns:a="http://schemas.openxmlformats.org/drawingml/2006/main">
            <a:off x="1127200" y="1743075"/>
            <a:ext cx="1936600" cy="419100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00623bdb747d8"/>
          <a:stretch xmlns:a="http://schemas.openxmlformats.org/drawingml/2006/main"/>
        </p:blipFill>
        <p:spPr>
          <a:xfrm xmlns:a="http://schemas.openxmlformats.org/drawingml/2006/main">
            <a:off x="5127700" y="1743075"/>
            <a:ext cx="1936600" cy="419100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a08eb321a49a5"/>
          <a:stretch xmlns:a="http://schemas.openxmlformats.org/drawingml/2006/main"/>
        </p:blipFill>
        <p:spPr>
          <a:xfrm xmlns:a="http://schemas.openxmlformats.org/drawingml/2006/main">
            <a:off x="9128200" y="1743075"/>
            <a:ext cx="1936600" cy="419100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02C95-2591-43F8-BC6B-4468176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1. Описание задачи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93710-BC22-4413-AA96-75C41CE3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048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2. Проверка полей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B6FDA-5299-440B-97D5-EAE1FB38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048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3. Выбор предложения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B14A7-DC3F-472D-832B-BEBECFB7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E40F5-4D4D-42BE-9D7D-7FAE3C22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532FB-6C1E-461C-B8FA-4520FE4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354FD-96B4-473E-85A2-A5B2E961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Скриншоты MVP. Каталог, рейтинги и отзывы синтетические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7CD33-F50E-4444-BFC2-53BC208A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2099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60DC72-F30C-4386-89A8-0314DFF9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Подбор без чёрного ящика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A35EB-3831-47B5-B4E1-C5E90237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Помощник формирует черновик, но решение и подтверждение остаются у пользователя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6c62b16e24d36"/>
          <a:stretch xmlns:a="http://schemas.openxmlformats.org/drawingml/2006/main"/>
        </p:blipFill>
        <p:spPr>
          <a:xfrm xmlns:a="http://schemas.openxmlformats.org/drawingml/2006/main">
            <a:off x="7856116" y="1543050"/>
            <a:ext cx="2156668" cy="46672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51A4A-35F3-4F2F-8267-F938B35B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77396-A493-4359-B46B-419BB956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47875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Текст превращается в поля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4384A-A1C9-46E9-B5BB-3F1488D0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9552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Категория, место, дата, длительность и ограничения заполняются только как черновик.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1063B-C496-4C4F-9ECE-9F40623C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A7193-3A1C-4ACE-8B48-3E7EDE04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Поля редактируемы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D6CA7-31A2-4C96-B8C5-B83FC565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Пользователь видит и исправляет параметры до запроса предложений.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2F6A1-21A5-4B02-8D7C-79AF5FEE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B78B3-7ECC-4712-A374-3D1539DF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91025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Ранжирование объяснимо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7E352-6B59-4E65-B47B-9AA798F0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3867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 карточке видны цена смены, подача, рейтинг, отзывы и причина соответствия.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99A2CA-4713-4C5A-A65C-C799338D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1E576-C483-4709-BA4A-283E705D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Текущая реализация: воспроизводимый mock-парсер для трёх демонстрационных сценариев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F0D02-5DFE-4C49-A132-9D0F982F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26851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FDABAB-8348-4AEA-96D6-2D557744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Жизненный цикл заявки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CE51F-021E-440C-9A61-02488728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Заказчик, поставщик и бот видят согласованное состояние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03664-D46E-446F-9B28-7DC50760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8E305-0744-4D3E-921B-A1F91C5E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905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62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7D478-5D6B-48CA-8E2B-F2F1F480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289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6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E7A62E"/>
                </a:solidFill>
                <a:latin typeface="Helvetica Neue"/>
                <a:ea typeface="Helvetica Neue"/>
                <a:cs typeface="Helvetica Neue"/>
              </a:rPr>
              <a:t>NEW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20D58-2C21-4856-9BF9-3EC8EFB6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14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Новая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B0075-59FE-4F0E-8638-A76249F9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670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74125-B343-4FDD-8AA8-D55BC422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8BE47-CE01-431B-B52C-8D35EAF7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1905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796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3BD34-76EA-47D5-86A0-132311EE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289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CONFIRMED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4677B-CD45-43AC-BCFC-91CB0A6E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14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Подтверждена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C26EC-7AED-4EB5-84F9-C15ECBBE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670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D906A-38ED-4B11-8D3C-90F15A59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5AB51-049A-4A45-8353-3DD579A8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1905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2B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5BC14-A83A-48E7-B6F0-9152F06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289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2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972BC"/>
                </a:solidFill>
                <a:latin typeface="Helvetica Neue"/>
                <a:ea typeface="Helvetica Neue"/>
                <a:cs typeface="Helvetica Neue"/>
              </a:rPr>
              <a:t>IN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17E0B-F642-4CF7-9C2F-F86D96AE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14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В работе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867F9-C8F3-4579-9A80-A2463BCA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6670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30973-85DE-490F-8363-D3A923B2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1905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AEFDB-1277-4CDB-BF0F-3E930991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1905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726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4F159-E3CC-4B9E-BA47-527CC6A3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289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2726C"/>
                </a:solidFill>
                <a:latin typeface="Helvetica Neue"/>
                <a:ea typeface="Helvetica Neue"/>
                <a:cs typeface="Helvetica Neue"/>
              </a:rPr>
              <a:t>COMPLETED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D8B63-7868-4229-B6FE-9C15C05D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146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Завершена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B79C23-EA0C-48B7-9EF2-09D60F1E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После подтверждения доступны запрос звонка, уведомление и история изменения статусов. После завершения заказчик оставляет один отзыв.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6425740f14c01"/>
          <a:srcRect xmlns:a="http://schemas.openxmlformats.org/drawingml/2006/main" l="0" t="37485" r="0" b="374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4810125"/>
            <a:ext cx="2286000" cy="1238250"/>
          </a:xfrm>
          <a:prstGeom xmlns:a="http://schemas.openxmlformats.org/drawingml/2006/main" prst="roundRect">
            <a:avLst>
              <a:gd name="adj" fmla="val 6154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A624B-2F93-4752-A890-7B72B344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5A262-1060-488E-941E-7CF15E6D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Состояния валидируются бэкендом; недопустимые переходы возвращают контролируемую ошибку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84DDD8-C220-4379-A2EE-E628CF14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0578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D81792-31C5-4C4B-A006-1D1B8782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Архитектура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36966-3158-4D8E-B2F2-24A300BC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Четыре компонента в Docker и понятный путь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B312F-952A-4DEF-9258-20AE93DB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076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710B2-5F13-4239-9D6B-F9DAF9FD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36C6E-DA1E-4177-BF50-B88D09AC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4ECCE-59CF-43B7-BFA1-FBE07D83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MAX 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80417-32E2-45B6-A094-97637655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Вход, deep link, уведомления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0A63D-8BD3-4ECA-8D3B-B3C9BB08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7D038-817F-4914-B43A-DD260AC8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076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E29A7-7173-43DD-B52D-CE73A157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003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DA65D-382A-4650-BDAD-BC748F5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575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13259-41CC-409D-96D0-BD9A0E90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480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Mini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AE474-F7A0-40FC-BBAC-4416036D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React-интерфейс, mobile/web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97A82-07F3-4274-9207-CCCCDDFD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05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4C946-8C33-472B-8237-AE9F08E9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2076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680FE-3644-4EA4-943C-2C73B498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C5C4A-C1D5-45EA-91F4-AA4C0B29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27186-651F-455D-A0F9-7CBBC609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B3BD5-A613-47F0-8AF6-4804A2F1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Права, заявки, статусы, подбор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87238-81F8-4139-8D15-1F932A76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16EBC-A582-42C2-B275-DB5DAC42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09850"/>
            <a:ext cx="2076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2ED2E-23EC-47D2-BFBB-FE79B5D6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342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BDBD0-C0E2-4520-861F-3DFEFF43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5750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77EF60-43FF-496C-AA62-A294F6E8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480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20DCBF-E091-4FCB-B7BF-F65E566F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Тестовые данные и журнал событий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747F09-67B6-4612-A2BE-E19653A1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57750"/>
            <a:ext cx="623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Локальный запуск: docker compose up --build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49BD80-F813-4F9A-A8F9-271DBE0C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314950"/>
            <a:ext cx="766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Развёртывание: один сервер, reverse proxy, публичный HTTPS, секреты только в окружении.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0CFDE4-B582-46BE-84AE-798ABB3D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F9E84F-799B-4804-83AA-F0E01DE4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 production MAX WebAppData проверяется на бэкенде; demo-роли не используются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D97A91-5641-40BE-B9E6-0D3788E0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597017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E19987-1598-4B88-B986-A8B52351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Честная модель данных и безопасность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1EF96-9CE7-4E37-8735-674B121A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Проверяемость важнее имитации несуществующих интеграций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5995B-67BD-4048-8018-2B6EDC4E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В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F535B-6953-4F24-96E3-36D42311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792E9-4B6C-4F62-A531-32B67C1C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3 модельных поставщика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B5C89-7081-4D0A-A871-C8B6C769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Каталог поставщиков не выдается за реестр реальных организаций.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84202-B5ED-4970-B2C4-6586A769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B37D2-610C-4545-A130-3AC27EF3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10 единиц техники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554AD-4AE3-4F35-9AA0-51CACEB7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Четыре категории пилота: автокран, трактор, самосвал, экскаватор-погрузчик.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0E07B-8788-4750-999B-BA46C813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95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01339-AD23-439A-807A-6A55018A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Dry-run уведомления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8953E-5EC9-4FE1-B1F5-5E712D2C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Без токена MAX события сохраняются и проверяются без реальной доставки.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E1217-22BD-4990-9C1B-305D77F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Защита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38D98-F9BC-4DE1-B210-83EB149A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526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D3D42-22A5-4B5A-8543-9320291F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050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Секреты вне репозитория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3FCD9B-B40F-4A46-95AF-499C56CC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527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Токен передается только через переменные окружения или secret store.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953BA-059F-4E7B-9800-A9832694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241A1-2DE3-4A0D-8C41-195DD055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Проверка WebAppData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F95C64-443F-492B-80AA-3541D7BE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 production аутентификация идет через серверную HMAC-проверку данных MAX.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7B739-0B44-4D0B-9E3E-644380A6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19575"/>
            <a:ext cx="1047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E4D5B-923F-4CB1-BA63-CB8AA341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719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Контролируемые ошибки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05964-000B-4DFB-A967-FB56E7A6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96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Права, повторный отзыв и недопустимый статус обрабатываются API.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85009D-D7BB-496D-BC55-5F463DAB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E7016-709D-432E-8523-1AE32737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Синтетические данные и ограничения указаны в README, QA checklist и презентации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994578-9840-4862-A489-BE1C5022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01589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334C4-A457-4ED9-ADE8-97015647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Пилот в Чувашской Республике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8CCBB-A397-4F61-BF35-B527537D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Проверяем не абстрактную «полезность», а изменение конкретного процесса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C1276-8946-4EC7-83BE-56B0059F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990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4C605-D729-47B1-9385-191C5A5A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Контур пилота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A6D67-BD08-42A5-B005-4C5466DD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4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Чебоксары, Новочебоксарск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и ближайшие населённые пункты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3 модельных поставщика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4 категории, 10 единиц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Заказчик + диспетчер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19BB0-CC86-4483-8EA2-F3E77A3D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85950"/>
            <a:ext cx="2990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566AF-2254-4EB9-ACBA-2160C325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190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Метрики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0AD6B-DEE3-41BB-B298-D4CC5113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86050"/>
            <a:ext cx="228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Время до заявки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Доля заявок с подбором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Время ответа поставщика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Доля подтверждённых заявок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Оценка после выполнения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103DA-24D6-4BDA-9FEC-B7C79934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29908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07061-61A7-485E-A14A-349451B4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Решение по пилоту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16A1D-C27F-4B72-81EF-6A399862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86050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Сравнить с текущим ручным способом.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Проверить, какие поля чаще исправляют.</a:t>
            </a:r>
          </a:p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Расширять каталог только после подтверждения ценности.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8E74C-8D14-44A5-918F-A957E1ED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81625"/>
            <a:ext cx="845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Показатели являются планом измерения. Фактических результатов пилота пока нет.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A755A-048C-4438-A1D0-95289CDF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72BD7-3201-4AF3-817B-6C559210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Первый запуск ограничен регионом и поставщиками, чтобы проверить путь от заявки до результата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362F3-2004-47ED-B80C-31D2CE9D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78558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D89A69-2EE7-44C6-92F9-01B01996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Тиражирование после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4213C-9AD2-4AB0-A681-186CA64B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Масштабирование строится на переносимом ядре и понятных переменных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281CC-59E4-4E5F-988D-C37CBF1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Ядро сохраняется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C86F9-B818-48CF-AF7F-C344EFA6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заявка из текста или формы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проверка параметров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подбор и объяснение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роли заказчика и диспетчера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статусы, уведомления, отзыв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B10E0-1BD2-46B5-B57D-B020EB01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809750"/>
            <a:ext cx="9525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D72C8-8421-4DE0-B2CE-430E19AD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Адаптируется по региону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007AC-71BB-4599-A604-DECF3B9E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3905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каталог и доступность техники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поставщики и правила верификации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зона обслуживания и цены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интеграции с CRM/документами</a:t>
            </a:r>
          </a:p>
          <a:p xmlns:a="http://schemas.openxmlformats.org/drawingml/2006/main">
            <a:pPr algn="l">
              <a:def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• локальная команда пилота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7B517-57E5-45EA-BB37-935A2A3A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981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6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0F3B5-E6A9-440C-A63B-8BA17D6C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721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42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Следующий шаг: подключить проверенных поставщиков, провести интервью и измерить путь первой реальной заявки.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C536E-3D81-462A-8BF0-AFC8A76B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D3DBA-98FC-4DCF-9A42-A5E68B47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Порядок: Чувашия -&gt; соседние регионы с партнёрами -&gt; подключение проверенных поставщиков и интеграций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1CF6B-E758-4C05-8DBA-38FA4237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739357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C796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D5BF5-D7AB-42BE-BFF9-715DA968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53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ТехЗаказ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B4087-76B5-4A14-A18E-2DE473AD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748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Понятный путь от задачи до подтверждённой заявки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на технику с экипажем внутри 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D07B5-5184-4C91-AF6B-860FC356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735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A79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07243-3298-4138-A093-5E6F6BE0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F0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7F05B"/>
                </a:solidFill>
                <a:latin typeface="Helvetica Neue"/>
                <a:ea typeface="Helvetica Neue"/>
                <a:cs typeface="Helvetica Neue"/>
              </a:rPr>
              <a:t>Что уже подготовлено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0EA86-825A-41A3-ACEC-9A5226C9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685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  Работающий сценарий заказа и диспетчера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02  OpenAPI, DATA-API, testdata и QA checklist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  PDF-презентация и сценарий демонстрации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04  План интервью для проверки продуктовой гипотезы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F449B-8A97-45BD-A847-249577FF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5219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F0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5255B-ADBF-4955-AF19-C5409784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00725"/>
            <a:ext cx="502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8242E"/>
                </a:solidFill>
                <a:latin typeface="Helvetica Neue"/>
                <a:ea typeface="Helvetica Neue"/>
                <a:cs typeface="Helvetica Neue"/>
              </a:rPr>
              <a:t>ДЕМО: БОТ -&gt; MINI APP -&gt; ЗАЯВКА -&gt; СТАТУС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17DDE-2AE2-45E9-9629-F78A1E28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Спасибо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A74F2-16AC-427E-A8C0-A3892CD5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64A38-F159-4C50-AA57-DD3895AA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923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27D"/>
                </a:solidFill>
                <a:latin typeface="Helvetica Neue"/>
                <a:ea typeface="Helvetica Neue"/>
                <a:cs typeface="Helvetica Neue"/>
              </a:rPr>
              <a:t>ТехЗаказ | MVP для трека «Эффективный бизнес»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191EC-6B4F-4FA4-87F8-8F2EABF9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24625"/>
            <a:ext cx="600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C7964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35026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2026-09-29T16:05:00.3030000Z</dcterms:created>
  <dcterms:modified xsi:type="dcterms:W3CDTF">2026-09-29T16:05:00.3040000Z</dcterms:modified>
</coreProperties>
</file>