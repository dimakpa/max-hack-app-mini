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a38bc6281145e5" /><Relationship Type="http://schemas.openxmlformats.org/officeDocument/2006/relationships/extended-properties" Target="/docProps/app.xml" Id="Rd743a0e4ec304eca" /><Relationship Type="http://schemas.openxmlformats.org/officeDocument/2006/relationships/officeDocument" Target="/ppt/presentation.xml" Id="R7feb226b4bbd4d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03138ec7ea439b"/>
  </p:sldMasterIdLst>
  <p:notesMasterIdLst>
    <p:notesMasterId xmlns:r="http://schemas.openxmlformats.org/officeDocument/2006/relationships" r:id="R15784c9ceb9f448b"/>
  </p:notesMasterIdLst>
  <p:sldIdLst>
    <p:sldId xmlns:r="http://schemas.openxmlformats.org/officeDocument/2006/relationships" id="256" r:id="R81b7890ecbdc40c0"/>
    <p:sldId xmlns:r="http://schemas.openxmlformats.org/officeDocument/2006/relationships" id="257" r:id="R5939d35bc3984535"/>
    <p:sldId xmlns:r="http://schemas.openxmlformats.org/officeDocument/2006/relationships" id="258" r:id="R11833827afa64752"/>
    <p:sldId xmlns:r="http://schemas.openxmlformats.org/officeDocument/2006/relationships" id="259" r:id="R578d0bd8ed5a4afc"/>
    <p:sldId xmlns:r="http://schemas.openxmlformats.org/officeDocument/2006/relationships" id="260" r:id="R5240c8bd7a0c4d9c"/>
    <p:sldId xmlns:r="http://schemas.openxmlformats.org/officeDocument/2006/relationships" id="261" r:id="R7c78be904bce49a6"/>
    <p:sldId xmlns:r="http://schemas.openxmlformats.org/officeDocument/2006/relationships" id="262" r:id="R71f96309d52046fc"/>
    <p:sldId xmlns:r="http://schemas.openxmlformats.org/officeDocument/2006/relationships" id="263" r:id="R652f8b924a3c4c65"/>
    <p:sldId xmlns:r="http://schemas.openxmlformats.org/officeDocument/2006/relationships" id="264" r:id="R0a84e1df609f4d9c"/>
    <p:sldId xmlns:r="http://schemas.openxmlformats.org/officeDocument/2006/relationships" id="265" r:id="R1ef7a26086814091"/>
    <p:sldId xmlns:r="http://schemas.openxmlformats.org/officeDocument/2006/relationships" id="266" r:id="R8919f0aca17e4c48"/>
    <p:sldId xmlns:r="http://schemas.openxmlformats.org/officeDocument/2006/relationships" id="267" r:id="R8db28c3a901b45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92914dce1b4c8b" /><Relationship Type="http://schemas.openxmlformats.org/officeDocument/2006/relationships/slideMaster" Target="/ppt/slideMasters/slideMaster1.xml" Id="R7b03138ec7ea439b" /><Relationship Type="http://schemas.openxmlformats.org/officeDocument/2006/relationships/notesMaster" Target="/ppt/notesMasters/notesMaster1.xml" Id="R15784c9ceb9f448b" /><Relationship Type="http://schemas.openxmlformats.org/officeDocument/2006/relationships/presProps" Target="/ppt/presProps.xml" Id="R7660d93caa244b22" /><Relationship Type="http://schemas.openxmlformats.org/officeDocument/2006/relationships/tableStyles" Target="/ppt/tableStyles.xml" Id="R7c2bf19938a44d8f" /><Relationship Type="http://schemas.openxmlformats.org/officeDocument/2006/relationships/slide" Target="/ppt/slides/slide1.xml" Id="R81b7890ecbdc40c0" /><Relationship Type="http://schemas.openxmlformats.org/officeDocument/2006/relationships/slide" Target="/ppt/slides/slide2.xml" Id="R5939d35bc3984535" /><Relationship Type="http://schemas.openxmlformats.org/officeDocument/2006/relationships/slide" Target="/ppt/slides/slide3.xml" Id="R11833827afa64752" /><Relationship Type="http://schemas.openxmlformats.org/officeDocument/2006/relationships/slide" Target="/ppt/slides/slide4.xml" Id="R578d0bd8ed5a4afc" /><Relationship Type="http://schemas.openxmlformats.org/officeDocument/2006/relationships/slide" Target="/ppt/slides/slide5.xml" Id="R5240c8bd7a0c4d9c" /><Relationship Type="http://schemas.openxmlformats.org/officeDocument/2006/relationships/slide" Target="/ppt/slides/slide6.xml" Id="R7c78be904bce49a6" /><Relationship Type="http://schemas.openxmlformats.org/officeDocument/2006/relationships/slide" Target="/ppt/slides/slide7.xml" Id="R71f96309d52046fc" /><Relationship Type="http://schemas.openxmlformats.org/officeDocument/2006/relationships/slide" Target="/ppt/slides/slide8.xml" Id="R652f8b924a3c4c65" /><Relationship Type="http://schemas.openxmlformats.org/officeDocument/2006/relationships/slide" Target="/ppt/slides/slide9.xml" Id="R0a84e1df609f4d9c" /><Relationship Type="http://schemas.openxmlformats.org/officeDocument/2006/relationships/slide" Target="/ppt/slides/slide10.xml" Id="R1ef7a26086814091" /><Relationship Type="http://schemas.openxmlformats.org/officeDocument/2006/relationships/slide" Target="/ppt/slides/slide11.xml" Id="R8919f0aca17e4c48" /><Relationship Type="http://schemas.openxmlformats.org/officeDocument/2006/relationships/slide" Target="/ppt/slides/slide12.xml" Id="R8db28c3a901b45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00768a191c4b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fa2dd241ec41e8" /><Relationship Type="http://schemas.openxmlformats.org/officeDocument/2006/relationships/notesMaster" Target="/ppt/notesMasters/notesMaster1.xml" Id="Rb62431bd2cf045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f034c01d774328" /><Relationship Type="http://schemas.openxmlformats.org/officeDocument/2006/relationships/notesMaster" Target="/ppt/notesMasters/notesMaster1.xml" Id="R71a16fb6169848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b8b6bef3154852" /><Relationship Type="http://schemas.openxmlformats.org/officeDocument/2006/relationships/notesMaster" Target="/ppt/notesMasters/notesMaster1.xml" Id="Refedababb9274e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ccca869d1c4d34" /><Relationship Type="http://schemas.openxmlformats.org/officeDocument/2006/relationships/notesMaster" Target="/ppt/notesMasters/notesMaster1.xml" Id="R2415646ab53c48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dee3be10fb41c3" /><Relationship Type="http://schemas.openxmlformats.org/officeDocument/2006/relationships/notesMaster" Target="/ppt/notesMasters/notesMaster1.xml" Id="Re8cd1950c19d4d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50b140f049467d" /><Relationship Type="http://schemas.openxmlformats.org/officeDocument/2006/relationships/notesMaster" Target="/ppt/notesMasters/notesMaster1.xml" Id="Rbfd85d836a0846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2678019e134b1f" /><Relationship Type="http://schemas.openxmlformats.org/officeDocument/2006/relationships/notesMaster" Target="/ppt/notesMasters/notesMaster1.xml" Id="R56e90e0b0d8a40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3e5455f1e141c3" /><Relationship Type="http://schemas.openxmlformats.org/officeDocument/2006/relationships/notesMaster" Target="/ppt/notesMasters/notesMaster1.xml" Id="R672a496e85334a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50fbd9b7e3447a" /><Relationship Type="http://schemas.openxmlformats.org/officeDocument/2006/relationships/notesMaster" Target="/ppt/notesMasters/notesMaster1.xml" Id="R5cdbed7a30a54b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f5b6eb8bda4b24" /><Relationship Type="http://schemas.openxmlformats.org/officeDocument/2006/relationships/notesMaster" Target="/ppt/notesMasters/notesMaster1.xml" Id="R143cce1615ee45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61bedf47fd4221" /><Relationship Type="http://schemas.openxmlformats.org/officeDocument/2006/relationships/notesMaster" Target="/ppt/notesMasters/notesMaster1.xml" Id="R280720032ee44f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8cdd0ec0db47dd" /><Relationship Type="http://schemas.openxmlformats.org/officeDocument/2006/relationships/notesMaster" Target="/ppt/notesMasters/notesMaster1.xml" Id="R8b581e690d8644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Служебный слайд не рассказываем подробно. Указан проверяемый commit с исходниками, документацией и API-спецификациями.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ТехЗаказ решает одну конкретную задачу: быстро найти технику с экипажем для работ в Чувашской Республике.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говорим, что рынок полностью не цифровизирован. Показываем конкретную точку: человеку нужно сопоставить много параметров и получить результат быстрее.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Основной сценарий намеренно узкий. Он заканчивается подтверждаемой заявкой и отслеживанием статуса, а не пытается автоматизировать весь рынок аренды.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Показываем конкретный пример: «Нужен самосвал КамАЗ в Новочебоксарске завтра к 8:00 на смену, вывезти грунт с участка».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сильное место продукта: мы не прячем заявку за ИИ. Помощник уменьшает ввод, пользователь подтверждает поля, диспетчер подтверждает доступность.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Заявка не создаёт оплату и не обещает доступность. Она поступает поставщику, который меняет статус. Это реалистичная граница MVP.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Собственный API здесь нужен для логики заявок и состояний. Он не заявляется как самоцель и будет описан в OpenAPI после деплоя.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Особенно подчеркнуть, что настоящие поставщики и рейтинги появятся только после договоренностей о пилоте и правил верификации.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показываем выдуманные деньги или проценты. Показываем, как именно будет проверяться эффект после запуска.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Сначала фиксируем ценность в одном регионе, затем расширяем каталог только с проверенными поставщиками и измеренными результатами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Финальное резюме: основной пакет готов. На владельце остаётся финальная приёмка в MAX и подстановка username бота и hash последнего commit.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cfaded9fd142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758725285e47d3" /><Relationship Type="http://schemas.openxmlformats.org/officeDocument/2006/relationships/slideLayout" Target="/ppt/slideLayouts/slideLayout1.xml" Id="R609147ee55344b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9147ee55344b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368b8baa84344" /><Relationship Type="http://schemas.openxmlformats.org/officeDocument/2006/relationships/notesSlide" Target="/ppt/notesSlides/notesSlide1.xml" Id="R60fbfef971424c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571658aac4691" /><Relationship Type="http://schemas.openxmlformats.org/officeDocument/2006/relationships/image" Target="/ppt/media/image.png" Id="R22e0db9b06bb4e81" /><Relationship Type="http://schemas.openxmlformats.org/officeDocument/2006/relationships/notesSlide" Target="/ppt/notesSlides/notesSlide2.xml" Id="R3a12d32586ac44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1ca641b034fda" /><Relationship Type="http://schemas.openxmlformats.org/officeDocument/2006/relationships/notesSlide" Target="/ppt/notesSlides/notesSlide3.xml" Id="Rdc59dbaeeac148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7e5a1149b4d0f" /><Relationship Type="http://schemas.openxmlformats.org/officeDocument/2006/relationships/notesSlide" Target="/ppt/notesSlides/notesSlide4.xml" Id="Rf926e800137f4a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3f2cc74fb40e4" /><Relationship Type="http://schemas.openxmlformats.org/officeDocument/2006/relationships/image" Target="/ppt/media/image2.png" Id="Rae3912c480f546f1" /><Relationship Type="http://schemas.openxmlformats.org/officeDocument/2006/relationships/image" Target="/ppt/media/image3.png" Id="R93cf37fd4bf2476d" /><Relationship Type="http://schemas.openxmlformats.org/officeDocument/2006/relationships/image" Target="/ppt/media/image4.png" Id="Rec02c9675ca248f1" /><Relationship Type="http://schemas.openxmlformats.org/officeDocument/2006/relationships/notesSlide" Target="/ppt/notesSlides/notesSlide5.xml" Id="R40fd3b5e98ee47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910a533c245cd" /><Relationship Type="http://schemas.openxmlformats.org/officeDocument/2006/relationships/image" Target="/ppt/media/image5.png" Id="R4a335d3204144672" /><Relationship Type="http://schemas.openxmlformats.org/officeDocument/2006/relationships/notesSlide" Target="/ppt/notesSlides/notesSlide6.xml" Id="R82bf755c642241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5474b6e3c49e9" /><Relationship Type="http://schemas.openxmlformats.org/officeDocument/2006/relationships/image" Target="/ppt/media/image6.png" Id="Rf953473409624a6c" /><Relationship Type="http://schemas.openxmlformats.org/officeDocument/2006/relationships/notesSlide" Target="/ppt/notesSlides/notesSlide7.xml" Id="R1f2df44aadfe47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93e5a182a48d5" /><Relationship Type="http://schemas.openxmlformats.org/officeDocument/2006/relationships/notesSlide" Target="/ppt/notesSlides/notesSlide8.xml" Id="Rbe5aa953e1824e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794d598e24017" /><Relationship Type="http://schemas.openxmlformats.org/officeDocument/2006/relationships/notesSlide" Target="/ppt/notesSlides/notesSlide9.xml" Id="R62dd2bd1cbc846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2ed997017446b" /><Relationship Type="http://schemas.openxmlformats.org/officeDocument/2006/relationships/notesSlide" Target="/ppt/notesSlides/notesSlide10.xml" Id="Radb421d1ba584b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1a98344ae4043" /><Relationship Type="http://schemas.openxmlformats.org/officeDocument/2006/relationships/notesSlide" Target="/ppt/notesSlides/notesSlide11.xml" Id="R647e0664a7e346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75a93bf4443d3" /><Relationship Type="http://schemas.openxmlformats.org/officeDocument/2006/relationships/notesSlide" Target="/ppt/notesSlides/notesSlide12.xml" Id="R4e389a18476c47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830043-AD6E-407B-B32B-AE33EB11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009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796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CD046-B7AE-4144-B1C0-D50B5A54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"/>
            <a:ext cx="2819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СЛУЖЕБНЫЙ СЛАЙД ДЛЯ ПРОВЕРКИ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50CF9-1C2B-4456-8D20-7DACC29E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ТехЗаказ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276F1-10E2-4CB3-B94A-DFCC07AD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638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MVP подбора спецтехники с экипажем в MAX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74F06-D880-4452-934C-A998C18D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3F6F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12151-D80F-45D2-A1B9-CCB34463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Ссылка на бот MAX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C9774-695E-4F7F-9A94-59AB8E5B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@t52_hakaton_max_bot</a:t>
            </a:r>
          </a:p>
          <a:p xmlns:a="http://schemas.openxmlformats.org/drawingml/2006/main">
            <a:pPr algn="l">
              <a:defRPr sz="12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https://web.max.ru/51922339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65E92-6E38-4DD7-B3C1-2252292B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Mini app /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6C61E-74D2-41F8-AC0A-1836B4B2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https://max-ai.5.63.152.157.sslip.io/</a:t>
            </a:r>
          </a:p>
          <a:p xmlns:a="http://schemas.openxmlformats.org/drawingml/2006/main">
            <a:pPr algn="l">
              <a:defRPr sz="112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API: тот же origin /api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442F39-EDE4-44F0-95E8-4B287E9D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146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Репозиторий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0AFCC-BF7F-4C1B-89D4-5E42EDE5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436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github.com/dimakpa/Max-Hack-App-mini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30D125-BFFE-4A92-A538-C2462D05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95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Проверяемый commit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A96E86-0F0B-409A-A37B-0F6CC95D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6235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45bff0da27c32f342cc0b7bfe4cc983e2fdf73c7</a:t>
            </a:r>
          </a:p>
          <a:p xmlns:a="http://schemas.openxmlformats.org/drawingml/2006/main">
            <a:pPr algn="l">
              <a:defRPr sz="97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Пакет исходников и документации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F68773-CEDB-46D6-A322-EB7B3755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Порядок проверки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EC914C-5601-458D-888F-4A8D084B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Бот -&gt; mini app -&gt; текст заявки -&gt; проверка полей -&gt; подбор -&gt; выбор -&gt; заявка -&gt; подтверждение диспетчером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0DBE05-B9DD-4BDA-B03D-4F98C632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Тест API локально: DEMO_AUTH=true; x-demo-user: customer, dispatcher-a, dispatcher-b, dispatcher-c; паролей нет.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361735-7E0F-4D5E-BA97-52C698F2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14FF58-31EA-4F5D-8283-01B0695D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Секреты не включены: для проверки используются MAX-доступ и окружение сервера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64DA6F-F2DC-4CF4-8973-A55CEC2E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892321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0FB8A-4AB7-432B-94B5-6273F501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36F28-E982-4AAF-A645-8E41BF87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" cy="495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A9443-FE4C-42EA-BA3C-6C424C15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C7C05-93E8-4154-B204-D4411FC8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001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MAX MINI APP + 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05215-F51E-4F6E-B620-6CEE7891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28750"/>
            <a:ext cx="542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ТехЗаказ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01D43-5D55-4007-9E8D-73A94ED9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33625"/>
            <a:ext cx="542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Подбор спецтехники с экипажем</a:t>
            </a:r>
          </a:p>
          <a:p xmlns:a="http://schemas.openxmlformats.org/drawingml/2006/main">
            <a:pPr algn="l">
              <a:defRPr sz="210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для малого бизнеса в Чувашии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83B724-3D3A-4BCE-B0F6-B75EF53B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5095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Заказчик описывает задачу обычным текстом, проверяет параметры и получает подходящие предложения от поставщиков.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e0db9b06bb4e81"/>
          <a:srcRect xmlns:a="http://schemas.openxmlformats.org/drawingml/2006/main" l="0" t="3791" r="0" b="37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6650" y="495300"/>
            <a:ext cx="2762250" cy="5524500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EF6D60-15F3-4A85-AB1B-6D2CF5AD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1150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Рабочий экран MVP, mobile viewport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D239F3-539A-404E-8A7F-2F660FDC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01EDD-25E8-4FC6-B419-07180AC7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Проект для трека «Эффективный бизнес»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D64BBD-2742-4B96-96A3-CA75E73E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098094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B7EC0F-61AD-4E83-9ABF-CD4BB192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Проблема пользователя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E3834-0530-45DF-A4E3-9694774F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Приоритетный сегмент: малые подрядчики и ИП, которым техника нужна в конкретный день и для конкретной работы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AEB47-B46A-4859-B014-72AD48DE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50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85050"/>
                </a:solidFill>
                <a:latin typeface="Helvetica Neue"/>
                <a:ea typeface="Helvetica Neue"/>
                <a:cs typeface="Helvetica Neue"/>
              </a:rPr>
              <a:t>Сегодня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DEFD1E-270B-4CBB-AB3A-C71CD085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479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Нужно найти исполнителя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86102-27B2-4DA7-958B-8166A264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Обзвон, чаты и объявления. Доступность, цена и условия сравниваются вручную.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2FAF4-4B7A-481E-8A68-E8CEE416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526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A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7A62E"/>
                </a:solidFill>
                <a:latin typeface="Helvetica Neue"/>
                <a:ea typeface="Helvetica Neue"/>
                <a:cs typeface="Helvetica Neue"/>
              </a:rPr>
              <a:t>Проблема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573F5-6103-4D0A-B133-104FFF91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479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Слишком много параметров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308483-10FA-4E8B-AED8-EDD3076B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035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Категория, тоннаж, насадки, место, время, длительность, ограничения площадки и рейтинг поставщика.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F2CB4D-C1D0-4CED-A65B-D53762F9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526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Результат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92198-3FBD-4226-8322-B86C4E0E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479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Неясный выбор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BAE52-746F-497E-B5DC-720285C5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003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Заказчик тратит время до начала работ и не видит прозрачный путь от задачи к подтверждённой заявке.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1AB856-1080-43F6-9638-ED170856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96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2 обезличенных интервью, 29.09.2026: заказчик и диспетчер подтвердили повторные уточнения по цене, времени и условиям объекта. Это качественная выборка, не статистика рынка.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6D2BE-9309-4013-8DD9-E58DD627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8D77B2-F418-44C9-8D39-531926E2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Гипотеза MVP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C4DBE0-F361-4891-99DE-4A0EA83E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9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Если перевести описание работ в проверяемый черновик и показать релевантные варианты, заказчик быстрее создаст заявку, а поставщик получит структурированный запрос.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7FE5AC-CFF5-412A-83AA-96A752E7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4023D-7332-4145-A25F-EF040DEA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Гипотеза команды. Метрики проверяются на пилоте, а не выдаются за фактический результат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EA1CA6-88F2-43E5-8155-3ED099F6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715504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4FA9EE-4171-4575-BF55-5681D587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Путь заказа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6A057-2222-477E-9E16-78226E0A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ТехЗаказ сокращает ручной путь до одной понятной последовательности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C7470-5273-4BD6-BBBE-B65101CA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573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50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85050"/>
                </a:solidFill>
                <a:latin typeface="Helvetica Neue"/>
                <a:ea typeface="Helvetica Neue"/>
                <a:cs typeface="Helvetica Neue"/>
              </a:rPr>
              <a:t>As 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09A49-84E4-46EA-85C1-00D422D3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288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Чаты и звонки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A44EC-6B99-4FDA-86EA-7097E3FA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87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Уточнение параметров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6460A-78BE-42CF-9333-1DA8EF93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052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4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Сравнение вручную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A470E-64A4-4EEF-9B38-BBE2A157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07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Повторные уточнения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1B267-1232-4FC0-8601-AF39A52A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6690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700D51-D00E-41C4-92C5-17F5543B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573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To Be в MAX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FFF1A3-AAB8-4434-A115-1790FF4A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431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2D0B1-273B-40C5-8B34-9B55CF2E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19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F17F7C-39E4-460B-85CD-106ACB2F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526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Описать работу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20AD52-D627-4590-B80C-9460B800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1937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Обычный текст или ручная форма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B41C7A-076D-4ED0-9F02-45744194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575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CA4CC-800D-4D55-916A-EBF48689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337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CEED7-6A22-4330-993E-39EA41B7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670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Проверить поля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F81155-2288-45CB-A349-C90905CD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337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Заказчик сам подтверждает параметры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8FC27E-3C92-446B-8E84-2F835DB7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719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B4B804-7EB4-4A89-8879-AAD7DE7A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481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A5B8FB-B274-4D90-BF29-38A12AEA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8142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Выбрать вариант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25823D-E734-4DAF-8B80-3ACEACA5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481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Цена, доступность, рейтинг, объяснение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0A37E3-AF55-46DD-B803-F88E06AE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862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39B251-53E8-4BA7-9A75-59205895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624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09EBB1-596A-4475-B546-A40CC879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958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Получить статус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7688E1-22FD-436E-B216-B5DE7749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625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Бот и mini app показывают ход заявки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6CCE80-E4C6-413E-9D5E-EB74DB0A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89A34E-A7D0-49E1-AA2D-B47347EC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Границы MVP: без оплаты, договоров, GPS, госреестров и автоматической публикации поставщиков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551E4C-B2A3-4D27-9C2C-83201D90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673070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72D82-834E-4944-B9AB-3418DB16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Основной сценарий заказчика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83EDE-136E-4C41-ACB6-19C8E19D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От человеческого описания задачи к выбору конкретной техники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912c480f546f1"/>
          <a:stretch xmlns:a="http://schemas.openxmlformats.org/drawingml/2006/main"/>
        </p:blipFill>
        <p:spPr>
          <a:xfrm xmlns:a="http://schemas.openxmlformats.org/drawingml/2006/main">
            <a:off x="1127200" y="1743075"/>
            <a:ext cx="1936600" cy="4191000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cf37fd4bf2476d"/>
          <a:stretch xmlns:a="http://schemas.openxmlformats.org/drawingml/2006/main"/>
        </p:blipFill>
        <p:spPr>
          <a:xfrm xmlns:a="http://schemas.openxmlformats.org/drawingml/2006/main">
            <a:off x="5127700" y="1743075"/>
            <a:ext cx="1936600" cy="4191000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02c9675ca248f1"/>
          <a:stretch xmlns:a="http://schemas.openxmlformats.org/drawingml/2006/main"/>
        </p:blipFill>
        <p:spPr>
          <a:xfrm xmlns:a="http://schemas.openxmlformats.org/drawingml/2006/main">
            <a:off x="9128200" y="1743075"/>
            <a:ext cx="1936600" cy="4191000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572DCE-58BB-45E7-A48B-6A91CDDE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48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1. Описание задачи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0C7864-ECD0-495C-A790-3FF57757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048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2. Проверка полей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45A64-419A-4517-BA3D-140F8907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048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3. Выбор предложения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AF442-18F7-467F-8C57-E45BB307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3855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063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3E364D-903A-4526-A68D-537D833D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3855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063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7A8D5-C993-4778-8766-E89959A4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5E095-E699-49A2-AEC5-410C44A3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Скриншоты MVP. Каталог, рейтинги и отзывы синтетические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79F21D-DE24-436B-B40E-8C77C7B4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148303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C4504D-4DC2-495D-8F2E-07D22CDF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Подбор без чёрного ящика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BB9F9-D80F-4670-B23E-B9020DE7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Помощник формирует черновик, но решение и подтверждение остаются у пользователя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335d3204144672"/>
          <a:stretch xmlns:a="http://schemas.openxmlformats.org/drawingml/2006/main"/>
        </p:blipFill>
        <p:spPr>
          <a:xfrm xmlns:a="http://schemas.openxmlformats.org/drawingml/2006/main">
            <a:off x="7856116" y="1543050"/>
            <a:ext cx="2156668" cy="46672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68C58-B717-424C-AF98-59F8DA98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F268E-21EB-4B92-AD0F-2D5A2C71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47875"/>
            <a:ext cx="541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Текст превращается в поля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F75D8-563A-47A7-AD70-ED3BE127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95525"/>
            <a:ext cx="541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Категория, место, дата, длительность и ограничения заполняются только как черновик.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71D06-A997-49C5-AD47-CA51F390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670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15D27-5560-44D0-8500-78B3FE15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541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Поля редактируемы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A2D318-7967-4EC2-BCD8-98282754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541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Пользователь видит и исправляет параметры до запроса предложений.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094481-F9E4-4EA2-96BA-C390BED1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27BB2-26F7-4369-BEC4-B7CE60A7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91025"/>
            <a:ext cx="541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Ранжирование объяснимо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AA4481-1648-44EE-A7DD-E5BE53AD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38675"/>
            <a:ext cx="541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В карточке видны цена смены, подача, рейтинг, отзывы и причина соответствия.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C83E3D-3CD9-4653-AFAF-55B9FE93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220AC-E21F-4E90-BA7D-2587EC5E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Текущая реализация: воспроизводимый mock-парсер для трёх демонстрационных сценариев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5D80E0-23A6-422D-82D8-B2C4C5BD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129076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79FBAC-E749-4923-A4FA-39EAF4FF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Жизненный цикл заявки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CFBF1-B9A5-4CE1-894B-B3CED524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Заказчик, поставщик и бот видят согласованное состояние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F8DDD-D057-403F-A530-880837ED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1905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6F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E50AE-2F24-47F0-972E-562DDC72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1905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A62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2074E7-7297-4DC8-975D-71E7B141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62890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A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E7A62E"/>
                </a:solidFill>
                <a:latin typeface="Helvetica Neue"/>
                <a:ea typeface="Helvetica Neue"/>
                <a:cs typeface="Helvetica Neue"/>
              </a:rPr>
              <a:t>NEW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E65EC-F3CC-40E9-91F6-DB889C79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9146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Новая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94CC6-8134-4C81-B3BF-E0DC3B4B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667000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EAE01C-CB3A-439B-83DC-1350469E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1905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6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2852B0-D8C6-43AF-862A-9D121F09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1905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796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26E78-2B06-4DCC-92DC-626E937E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2890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CONFIRMED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FA2F81-3EFB-4FC2-A84B-A1C21278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9146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Подтверждена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FB725-F60B-4CD6-8EC7-B65F22AA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67000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D54A3D-0415-4C69-BFEC-20A4D736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81250"/>
            <a:ext cx="1905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6F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4997A9-323A-47F0-BA8F-EF101800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81250"/>
            <a:ext cx="1905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72B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BFB1E1-7786-4AB4-A5E9-F82245AD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2890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72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972BC"/>
                </a:solidFill>
                <a:latin typeface="Helvetica Neue"/>
                <a:ea typeface="Helvetica Neue"/>
                <a:cs typeface="Helvetica Neue"/>
              </a:rPr>
              <a:t>IN PROGRESS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B6D7CA-7A8C-4B9B-A199-D7EC1682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9146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В работе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7B72BA-2421-4E39-9BD5-A19E78CC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667000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423AAB-A4C0-4578-B8AD-BE5B4681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81250"/>
            <a:ext cx="1905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6F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C4FC27-9595-4ECB-93EC-325BBCDE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81250"/>
            <a:ext cx="1905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726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793DE2-64F8-4D1F-A70A-06863FB7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62890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726C"/>
                </a:solidFill>
                <a:latin typeface="Helvetica Neue"/>
                <a:ea typeface="Helvetica Neue"/>
                <a:cs typeface="Helvetica Neue"/>
              </a:rPr>
              <a:t>COMPLETED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3AEF43-E9D3-4528-B26D-06D600C0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9146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Завершена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B4DCA9-4E33-4C4B-BC6B-98925F4A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957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После подтверждения доступны запрос звонка, уведомление и история изменения статусов. После завершения заказчик оставляет один отзыв.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53473409624a6c"/>
          <a:srcRect xmlns:a="http://schemas.openxmlformats.org/drawingml/2006/main" l="0" t="37485" r="0" b="374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4810125"/>
            <a:ext cx="2286000" cy="1238250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FB0F05-22EC-4A10-92C9-DA74587B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4D3B30-EF90-4D97-9A1C-9884135D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Состояния валидируются бэкендом; недопустимые переходы возвращают контролируемую ошибку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7AEF93-4B67-4102-B146-CAB31250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910995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0743D1-0D11-4525-AE09-4F075987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Архитектура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380F1-C51E-4975-A4D0-83E07733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Четыре компонента в Docker и понятный путь 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3E15DD-8146-4886-B4B0-D716D629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2076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BC485-306D-4C06-BD72-0FD5FF92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3CAAF-7DE1-47EE-9DAC-426AC0A2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E4970-FD34-4D3A-9A73-50E6835A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48025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MAX bot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DC912-23FD-47FF-8551-0C2E9007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Вход, deep link, уведомления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ECF16-8CA4-4DF0-B544-EB546D4E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051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59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9901C-A0A4-461D-915C-D794F16A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09850"/>
            <a:ext cx="2076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D83BA-D462-43DF-8774-F2949108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00350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10CCAE-0060-448B-ACDD-F49D8062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5750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3AEBC-301D-4BBD-A503-FD93304A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48025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Mini app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F9487-ABDB-41FB-BB63-9475EBF5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62350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React-интерфейс, mobile/web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B94CCC-DEB5-4711-9C70-A390BD70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1051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59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AF7B0D-0348-4346-87C4-27EC4CCF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09850"/>
            <a:ext cx="2076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7BDCD2-5484-403D-9958-D6C5B773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00350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E95BE4-F7EB-4AED-B288-57040AC9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5750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867911-9FB8-476E-9301-DFBD2321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48025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2AF109-E75A-4539-910A-87CBB11D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62350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Права, заявки, статусы, подбор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A92D01-6097-44EB-84CB-1B72B229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051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59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B985D1-356F-4F54-89BC-B9074B9B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09850"/>
            <a:ext cx="2076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DE5077-32A0-4C90-8F70-33087351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00350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770ACD-370A-43DD-93DB-6766D3FE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99BE63-3CB4-446A-B507-88E6248D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48025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0D3B71-ED1D-464F-95CD-51C1C8F4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62350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Тестовые данные и журнал событий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17272B-F2D0-41E0-BD17-BD25B407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857750"/>
            <a:ext cx="623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Локальный запуск: docker compose up --build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E9CED7-420A-4A8A-A2CF-604067D4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314950"/>
            <a:ext cx="766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Развёртывание: один сервер, reverse proxy, публичный HTTPS, секреты только в окружении.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BD2514-22F1-44A4-A186-E37E018A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E45A5D-723B-4629-981B-150986F5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В production MAX WebAppData проверяется на бэкенде; demo-роли не используются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0D6C82-864A-4174-907F-61B95E54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705048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D23814-CFD1-46E2-81EB-DB7DD2F3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Честная модель данных и безопасность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66B8F-EDAD-452C-AED7-3B83FDAB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Проверяемость важнее имитации несуществующих интеграций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BB69C-77D9-4886-89A4-C326C89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В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6AC65D-A673-4DFF-B244-B436925A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526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9BAF7-8383-4650-8CB0-30E7D24B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3 модельных поставщика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16249-BB0A-4016-BCE5-E2D666CA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5270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Каталог поставщиков не выдается за реестр реальных организаций.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FA71D-E01C-4CA0-A1B4-02D9C629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8612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A29B7-042F-41B0-B094-8557090A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10 единиц техники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CA1A4-6DAB-437E-8331-855774CD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8615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Четыре категории пилота: автокран, трактор, самосвал, экскаватор-погрузчик.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AE759D-EEF6-46C4-B03F-6BC9DFA0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95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FD6B8B-1A2A-46EA-AFDD-675F0A89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71950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Dry-run уведомления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65799-438C-4901-8DAC-27FC7A15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Без токена MAX события сохраняются и проверяются без реальной доставки.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BDA59B-FB4D-4A8D-9CA7-9F1C220A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47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Защита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B2CAE2-6730-40A7-ABA7-5450458E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526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545985-B008-4D1D-B50D-28B02EC8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05050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Секреты вне репозитория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01E079-A94B-48D2-A3A5-6B862124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5270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Токен передается только через переменные окружения или secret store.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AF5DF7-E54A-4E47-85B8-EB8E2C74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DD6B55-79B9-421B-88C8-F3C5DCD6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38500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Проверка WebAppData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7C94D3-6746-4A96-AEFE-BE825D0D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8615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В production аутентификация идет через серверную HMAC-проверку данных MAX.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09DFCC-9740-4744-AE9D-7BB1F0C9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195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CA4645-907D-4247-B2C0-520954A8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71950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Контролируемые ошибки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565968-82B5-43DA-9117-0B65C773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1960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Права, повторный отзыв и недопустимый статус обрабатываются API.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2AA6BC-21F6-4996-9E29-89250EA2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542647-BDAB-4CFE-BD0C-4D73A3D6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Синтетические данные и ограничения указаны в README, QA checklist и презентации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CF88EA-5221-43EF-BA99-5A8682CD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26864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706F98-148C-4BF3-8384-9EE684AD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Пилот в Чувашской Республике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6BFEA3-3659-47FF-95A9-D264B26B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Проверяем не абстрактную «полезность», а изменение конкретного процесса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6DB7C-D4A8-4406-9A2C-BF866FC5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29908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61533-8EFC-441C-BE0D-4205BC06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Контур пилота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EB136-1F6D-4401-9500-67AFCF6C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49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Чебоксары, Новочебоксарск</a:t>
            </a:r>
          </a:p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и ближайшие населённые пункты</a:t>
            </a:r>
          </a:p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3 модельных поставщика</a:t>
            </a:r>
          </a:p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4 категории, 10 единиц</a:t>
            </a:r>
          </a:p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Заказчик + диспетчер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0727A-2AA9-4730-9406-604AF94F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885950"/>
            <a:ext cx="29908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A1D3D-632E-4AF3-AF00-7E437A9E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190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Метрики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B1743-C7E9-4CFF-BCB7-828B830E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686050"/>
            <a:ext cx="2286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Время до заявки</a:t>
            </a:r>
          </a:p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Доля заявок с подбором</a:t>
            </a:r>
          </a:p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Время ответа поставщика</a:t>
            </a:r>
          </a:p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Доля подтверждённых заявок</a:t>
            </a:r>
          </a:p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Оценка после выполнения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8BD83-4E8E-460E-B54B-9E6E1E91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29908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C2CD5C-718F-4E7A-BA13-A7EDA022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Решение по пилоту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589916-23D8-4669-B1C0-85D284E9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86050"/>
            <a:ext cx="228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47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Сравнить с текущим ручным способом.</a:t>
            </a:r>
          </a:p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Проверить, какие поля чаще исправляют.</a:t>
            </a:r>
          </a:p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Расширять каталог только после подтверждения ценности.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C7B599-62F1-42E1-A66A-9AA46225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81625"/>
            <a:ext cx="845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Показатели являются планом измерения. Фактических результатов пилота пока нет.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0A2B77-E2AE-4FE8-8D50-5D543983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8F5DAE-870C-4293-AA09-1F2547FB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Первый запуск ограничен регионом и поставщиками, чтобы проверить путь от заявки до результата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FFBC33-0AC0-4100-87B9-5ACC8C89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434344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D861B0-E170-416C-B403-BB4EA1FD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Тиражирование после пилота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99AF5-275D-4C76-9915-294B6B9B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Масштабирование строится на переносимом ядре и понятных переменных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1091BB-521C-41E1-BFA3-5569B490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Ядро сохраняется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5D96E-882C-4F20-BDB2-ACE50CC3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342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• заявка из текста или формы</a:t>
            </a:r>
          </a:p>
          <a:p xmlns:a="http://schemas.openxmlformats.org/drawingml/2006/main">
            <a:pPr algn="l">
              <a:def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• проверка параметров</a:t>
            </a:r>
          </a:p>
          <a:p xmlns:a="http://schemas.openxmlformats.org/drawingml/2006/main">
            <a:pPr algn="l">
              <a:def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• подбор и объяснение</a:t>
            </a:r>
          </a:p>
          <a:p xmlns:a="http://schemas.openxmlformats.org/drawingml/2006/main">
            <a:pPr algn="l">
              <a:def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• роли заказчика и диспетчера</a:t>
            </a:r>
          </a:p>
          <a:p xmlns:a="http://schemas.openxmlformats.org/drawingml/2006/main">
            <a:pPr algn="l">
              <a:def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• статусы, уведомления, отзыв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7AC5B-BEFB-4298-9291-92B46A7F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809750"/>
            <a:ext cx="9525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054699-106F-41EB-A16B-C3D8B5EC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Адаптируется по региону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F3F233-5DD2-429C-9BEB-D982F79A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3905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• каталог и доступность техники</a:t>
            </a:r>
          </a:p>
          <a:p xmlns:a="http://schemas.openxmlformats.org/drawingml/2006/main">
            <a:pPr algn="l">
              <a:def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• поставщики и правила верификации</a:t>
            </a:r>
          </a:p>
          <a:p xmlns:a="http://schemas.openxmlformats.org/drawingml/2006/main">
            <a:pPr algn="l">
              <a:def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• зона обслуживания и цены</a:t>
            </a:r>
          </a:p>
          <a:p xmlns:a="http://schemas.openxmlformats.org/drawingml/2006/main">
            <a:pPr algn="l">
              <a:def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• интеграции с CRM/документами</a:t>
            </a:r>
          </a:p>
          <a:p xmlns:a="http://schemas.openxmlformats.org/drawingml/2006/main">
            <a:pPr algn="l">
              <a:def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• локальная команда пилота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0F310-2C8B-4D18-8906-575F6AD3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9810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F6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27485-A413-4419-B4AA-0E940861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721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421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Следующий шаг: подключить проверенных поставщиков, провести интервью и измерить путь первой реальной заявки.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3E5D24-5204-4E9A-8F76-C3867A8B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64840-B549-41F5-A428-749EDBE3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Порядок: Чувашия -&gt; соседние регионы с партнёрами -&gt; подключение проверенных поставщиков и интеграций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963762-1BFD-427D-BF57-E1ED85B0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245142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C796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DA4CE-B202-42DC-9D47-B1DE365B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953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972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ТехЗаказ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B2DAD-3F45-44FC-8408-39E8F480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748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Понятный путь от задачи до подтверждённой заявки</a:t>
            </a:r>
          </a:p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на технику с экипажем внутри MAX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8B623-6079-458D-8566-27911F79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735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A79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E6B9D-AD78-4B27-A344-52BA9F1C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F0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7F05B"/>
                </a:solidFill>
                <a:latin typeface="Helvetica Neue"/>
                <a:ea typeface="Helvetica Neue"/>
                <a:cs typeface="Helvetica Neue"/>
              </a:rPr>
              <a:t>Что уже подготовлено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DA647-9E25-4A7B-AF51-B2644C61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685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Работающий сценарий заказа и диспетчера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OpenAPI, DATA-API, testdata и QA checklist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PDF-презентация и сценарий демонстрации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  План интервью для проверки продуктовой гипотезы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DD1661-B2E3-4AF0-B07C-D0DAC9EE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43575"/>
            <a:ext cx="5219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FD2D3-74AF-4640-8821-8B9D5CD5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00725"/>
            <a:ext cx="502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ДЕМО: БОТ -&gt; MINI APP -&gt; ЗАЯВКА -&gt; СТАТУС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2E67A6-3C89-4397-AD30-BF9A3B79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768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Спасибо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E031D-30B6-4919-81F4-E05EFE16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A2CE4-F5AB-41FB-8E25-DE9B471E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ТехЗаказ | MVP для трека «Эффективный бизнес»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DEA14A-EF9C-45DB-9522-4A1A0225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660191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2026-09-29T16:11:19.7690000Z</dcterms:created>
  <dcterms:modified xsi:type="dcterms:W3CDTF">2026-09-29T16:11:19.7690000Z</dcterms:modified>
</coreProperties>
</file>